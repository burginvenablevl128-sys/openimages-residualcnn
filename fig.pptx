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2"/>
    <p:sldId id="256" r:id="rId3"/>
    <p:sldId id="257" r:id="rId4"/>
    <p:sldId id="259" r:id="rId5"/>
  </p:sldIdLst>
  <p:sldSz cx="8648700" cy="538162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42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7B69D-6DE8-7E4C-A89A-480DCDBA6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236BC6-DEE6-658F-A496-84BAFD120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856AEB-4902-58CF-08D2-AC0B2666CB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681BF-6469-54D4-751B-9C52082C8271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052016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81000" r="-18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B2A506-5D29-830E-2CFE-4C4102E5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外层虚线边框">
            <a:extLst>
              <a:ext uri="{FF2B5EF4-FFF2-40B4-BE49-F238E27FC236}">
                <a16:creationId xmlns:a16="http://schemas.microsoft.com/office/drawing/2014/main" id="{25F12A6D-51A0-5FA5-D319-0794D5D2A146}"/>
              </a:ext>
            </a:extLst>
          </p:cNvPr>
          <p:cNvSpPr>
            <a:spLocks noGrp="1"/>
          </p:cNvSpPr>
          <p:nvPr/>
        </p:nvSpPr>
        <p:spPr>
          <a:xfrm>
            <a:off x="121623" y="785395"/>
            <a:ext cx="8405455" cy="4202728"/>
          </a:xfrm>
          <a:prstGeom prst="rect">
            <a:avLst/>
          </a:prstGeom>
          <a:noFill/>
          <a:ln w="14288">
            <a:solidFill>
              <a:srgbClr val="163C5A"/>
            </a:solidFill>
            <a:prstDash val="dash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F5C7CF9-1FA9-0918-3335-E1F4F86CDA97}"/>
              </a:ext>
            </a:extLst>
          </p:cNvPr>
          <p:cNvSpPr>
            <a:spLocks noGrp="1"/>
          </p:cNvSpPr>
          <p:nvPr/>
        </p:nvSpPr>
        <p:spPr>
          <a:xfrm>
            <a:off x="216218" y="393501"/>
            <a:ext cx="8216265" cy="2837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7027" tIns="13514" rIns="27027" bIns="13514" anchor="ctr">
            <a:normAutofit fontScale="88947" lnSpcReduction="10000"/>
          </a:bodyPr>
          <a:lstStyle/>
          <a:p>
            <a:pPr algn="ctr">
              <a:lnSpc>
                <a:spcPct val="108000"/>
              </a:lnSpc>
              <a:buNone/>
              <a:defRPr sz="2700" b="1" i="0">
                <a:solidFill>
                  <a:srgbClr val="1723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15" b="1" dirty="0" err="1">
                <a:solidFill>
                  <a:srgbClr val="172336"/>
                </a:solidFill>
                <a:latin typeface="Microsoft YaHei"/>
                <a:ea typeface="Microsoft YaHei"/>
                <a:cs typeface="Microsoft YaHei"/>
              </a:rPr>
              <a:t>从像素到语义的残差卷积图像分类复现实验</a:t>
            </a:r>
            <a:endParaRPr sz="1915" b="1" dirty="0">
              <a:solidFill>
                <a:srgbClr val="1723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阶段一-虚线分区">
            <a:extLst>
              <a:ext uri="{FF2B5EF4-FFF2-40B4-BE49-F238E27FC236}">
                <a16:creationId xmlns:a16="http://schemas.microsoft.com/office/drawing/2014/main" id="{48BC418E-51EA-FC33-D916-B30343A5753F}"/>
              </a:ext>
            </a:extLst>
          </p:cNvPr>
          <p:cNvSpPr>
            <a:spLocks noGrp="1"/>
          </p:cNvSpPr>
          <p:nvPr/>
        </p:nvSpPr>
        <p:spPr>
          <a:xfrm>
            <a:off x="243245" y="934045"/>
            <a:ext cx="1689199" cy="3851374"/>
          </a:xfrm>
          <a:prstGeom prst="rect">
            <a:avLst/>
          </a:prstGeom>
          <a:solidFill>
            <a:srgbClr val="FFFFFF"/>
          </a:solidFill>
          <a:ln w="13335">
            <a:solidFill>
              <a:srgbClr val="234A68"/>
            </a:solidFill>
            <a:prstDash val="dash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4" name="阶段一-标记">
            <a:extLst>
              <a:ext uri="{FF2B5EF4-FFF2-40B4-BE49-F238E27FC236}">
                <a16:creationId xmlns:a16="http://schemas.microsoft.com/office/drawing/2014/main" id="{803C0D0F-5CA5-E887-F0F5-50FEE5B8C96D}"/>
              </a:ext>
            </a:extLst>
          </p:cNvPr>
          <p:cNvSpPr>
            <a:spLocks noGrp="1"/>
          </p:cNvSpPr>
          <p:nvPr/>
        </p:nvSpPr>
        <p:spPr>
          <a:xfrm>
            <a:off x="337840" y="1001613"/>
            <a:ext cx="554057" cy="229731"/>
          </a:xfrm>
          <a:prstGeom prst="ellipse">
            <a:avLst/>
          </a:prstGeom>
          <a:solidFill>
            <a:srgbClr val="FFFDF8"/>
          </a:solidFill>
          <a:ln w="17145">
            <a:solidFill>
              <a:srgbClr val="234A68"/>
            </a:solidFill>
            <a:prstDash val="solid"/>
          </a:ln>
        </p:spPr>
        <p:txBody>
          <a:bodyPr lIns="13514" tIns="13514" rIns="13514" bIns="13514" anchor="ctr">
            <a:normAutofit fontScale="98243" lnSpcReduction="10000"/>
          </a:bodyPr>
          <a:lstStyle/>
          <a:p>
            <a:pPr algn="ctr">
              <a:defRPr sz="1275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4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阶段一</a:t>
            </a:r>
          </a:p>
        </p:txBody>
      </p:sp>
      <p:sp>
        <p:nvSpPr>
          <p:cNvPr id="5" name="阶段二-虚线分区">
            <a:extLst>
              <a:ext uri="{FF2B5EF4-FFF2-40B4-BE49-F238E27FC236}">
                <a16:creationId xmlns:a16="http://schemas.microsoft.com/office/drawing/2014/main" id="{048E1B9F-D410-D1AB-3D53-E15E650F2914}"/>
              </a:ext>
            </a:extLst>
          </p:cNvPr>
          <p:cNvSpPr>
            <a:spLocks noGrp="1"/>
          </p:cNvSpPr>
          <p:nvPr/>
        </p:nvSpPr>
        <p:spPr>
          <a:xfrm>
            <a:off x="2094607" y="934045"/>
            <a:ext cx="2837855" cy="1635144"/>
          </a:xfrm>
          <a:prstGeom prst="rect">
            <a:avLst/>
          </a:prstGeom>
          <a:solidFill>
            <a:srgbClr val="FFFFFF"/>
          </a:solidFill>
          <a:ln w="13335">
            <a:solidFill>
              <a:srgbClr val="234A68"/>
            </a:solidFill>
            <a:prstDash val="dash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6" name="阶段二-标记">
            <a:extLst>
              <a:ext uri="{FF2B5EF4-FFF2-40B4-BE49-F238E27FC236}">
                <a16:creationId xmlns:a16="http://schemas.microsoft.com/office/drawing/2014/main" id="{514AC2A2-1F59-D055-1666-245504300126}"/>
              </a:ext>
            </a:extLst>
          </p:cNvPr>
          <p:cNvSpPr>
            <a:spLocks noGrp="1"/>
          </p:cNvSpPr>
          <p:nvPr/>
        </p:nvSpPr>
        <p:spPr>
          <a:xfrm>
            <a:off x="2189202" y="1001613"/>
            <a:ext cx="554057" cy="229731"/>
          </a:xfrm>
          <a:prstGeom prst="ellipse">
            <a:avLst/>
          </a:prstGeom>
          <a:solidFill>
            <a:srgbClr val="FFFDF8"/>
          </a:solidFill>
          <a:ln w="17145">
            <a:solidFill>
              <a:srgbClr val="234A68"/>
            </a:solidFill>
            <a:prstDash val="solid"/>
          </a:ln>
        </p:spPr>
        <p:txBody>
          <a:bodyPr lIns="13514" tIns="13514" rIns="13514" bIns="13514" anchor="ctr">
            <a:normAutofit fontScale="98243" lnSpcReduction="10000"/>
          </a:bodyPr>
          <a:lstStyle/>
          <a:p>
            <a:pPr algn="ctr">
              <a:defRPr sz="1275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4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阶段二</a:t>
            </a:r>
          </a:p>
        </p:txBody>
      </p:sp>
      <p:sp>
        <p:nvSpPr>
          <p:cNvPr id="7" name="阶段三-虚线分区">
            <a:extLst>
              <a:ext uri="{FF2B5EF4-FFF2-40B4-BE49-F238E27FC236}">
                <a16:creationId xmlns:a16="http://schemas.microsoft.com/office/drawing/2014/main" id="{8197E488-CD0D-B49C-CA29-6B3D4C643BFE}"/>
              </a:ext>
            </a:extLst>
          </p:cNvPr>
          <p:cNvSpPr>
            <a:spLocks noGrp="1"/>
          </p:cNvSpPr>
          <p:nvPr/>
        </p:nvSpPr>
        <p:spPr>
          <a:xfrm>
            <a:off x="5094625" y="1001612"/>
            <a:ext cx="3310830" cy="1567577"/>
          </a:xfrm>
          <a:prstGeom prst="rect">
            <a:avLst/>
          </a:prstGeom>
          <a:solidFill>
            <a:srgbClr val="FFFFFF"/>
          </a:solidFill>
          <a:ln w="13335">
            <a:solidFill>
              <a:srgbClr val="234A68"/>
            </a:solidFill>
            <a:prstDash val="dash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8" name="阶段三-标记">
            <a:extLst>
              <a:ext uri="{FF2B5EF4-FFF2-40B4-BE49-F238E27FC236}">
                <a16:creationId xmlns:a16="http://schemas.microsoft.com/office/drawing/2014/main" id="{EF1F9CF5-4777-8DFD-E6D6-A231DEC9CB01}"/>
              </a:ext>
            </a:extLst>
          </p:cNvPr>
          <p:cNvSpPr>
            <a:spLocks noGrp="1"/>
          </p:cNvSpPr>
          <p:nvPr/>
        </p:nvSpPr>
        <p:spPr>
          <a:xfrm>
            <a:off x="5189220" y="1001613"/>
            <a:ext cx="554057" cy="229731"/>
          </a:xfrm>
          <a:prstGeom prst="ellipse">
            <a:avLst/>
          </a:prstGeom>
          <a:solidFill>
            <a:srgbClr val="FFFDF8"/>
          </a:solidFill>
          <a:ln w="17145">
            <a:solidFill>
              <a:srgbClr val="234A68"/>
            </a:solidFill>
            <a:prstDash val="solid"/>
          </a:ln>
        </p:spPr>
        <p:txBody>
          <a:bodyPr lIns="13514" tIns="13514" rIns="13514" bIns="13514" anchor="ctr">
            <a:normAutofit fontScale="98243" lnSpcReduction="10000"/>
          </a:bodyPr>
          <a:lstStyle/>
          <a:p>
            <a:pPr algn="ctr">
              <a:defRPr sz="1275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4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阶段三</a:t>
            </a:r>
          </a:p>
        </p:txBody>
      </p:sp>
      <p:sp>
        <p:nvSpPr>
          <p:cNvPr id="9" name="阶段四-虚线分区">
            <a:extLst>
              <a:ext uri="{FF2B5EF4-FFF2-40B4-BE49-F238E27FC236}">
                <a16:creationId xmlns:a16="http://schemas.microsoft.com/office/drawing/2014/main" id="{A8BD92CE-8262-F289-0DB5-8B95F18EDF0A}"/>
              </a:ext>
            </a:extLst>
          </p:cNvPr>
          <p:cNvSpPr>
            <a:spLocks noGrp="1"/>
          </p:cNvSpPr>
          <p:nvPr/>
        </p:nvSpPr>
        <p:spPr>
          <a:xfrm>
            <a:off x="2094607" y="2825947"/>
            <a:ext cx="6310848" cy="1959472"/>
          </a:xfrm>
          <a:prstGeom prst="rect">
            <a:avLst/>
          </a:prstGeom>
          <a:solidFill>
            <a:srgbClr val="FFFFFF"/>
          </a:solidFill>
          <a:ln w="13335">
            <a:solidFill>
              <a:srgbClr val="234A68"/>
            </a:solidFill>
            <a:prstDash val="dash"/>
          </a:ln>
        </p:spPr>
        <p:txBody>
          <a:bodyPr/>
          <a:lstStyle/>
          <a:p>
            <a:endParaRPr lang="zh-CN" altLang="en-US" sz="1277" dirty="0"/>
          </a:p>
        </p:txBody>
      </p:sp>
      <p:sp>
        <p:nvSpPr>
          <p:cNvPr id="10" name="阶段四-标记">
            <a:extLst>
              <a:ext uri="{FF2B5EF4-FFF2-40B4-BE49-F238E27FC236}">
                <a16:creationId xmlns:a16="http://schemas.microsoft.com/office/drawing/2014/main" id="{5820E570-8CD5-9929-1B3D-428A9D8C048F}"/>
              </a:ext>
            </a:extLst>
          </p:cNvPr>
          <p:cNvSpPr>
            <a:spLocks noGrp="1"/>
          </p:cNvSpPr>
          <p:nvPr/>
        </p:nvSpPr>
        <p:spPr>
          <a:xfrm>
            <a:off x="2189202" y="2883971"/>
            <a:ext cx="554057" cy="229731"/>
          </a:xfrm>
          <a:prstGeom prst="ellipse">
            <a:avLst/>
          </a:prstGeom>
          <a:solidFill>
            <a:srgbClr val="FFFDF8"/>
          </a:solidFill>
          <a:ln w="17145">
            <a:solidFill>
              <a:srgbClr val="234A68"/>
            </a:solidFill>
            <a:prstDash val="solid"/>
          </a:ln>
        </p:spPr>
        <p:txBody>
          <a:bodyPr lIns="13514" tIns="13514" rIns="13514" bIns="13514" anchor="ctr">
            <a:normAutofit fontScale="98243" lnSpcReduction="10000"/>
          </a:bodyPr>
          <a:lstStyle/>
          <a:p>
            <a:pPr algn="ctr">
              <a:defRPr sz="1275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4" b="1" i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阶段四</a:t>
            </a:r>
          </a:p>
        </p:txBody>
      </p:sp>
      <p:sp>
        <p:nvSpPr>
          <p:cNvPr id="11" name="问题提出">
            <a:extLst>
              <a:ext uri="{FF2B5EF4-FFF2-40B4-BE49-F238E27FC236}">
                <a16:creationId xmlns:a16="http://schemas.microsoft.com/office/drawing/2014/main" id="{24F7BA5E-6609-2BC7-4B66-9521C35801DF}"/>
              </a:ext>
            </a:extLst>
          </p:cNvPr>
          <p:cNvSpPr>
            <a:spLocks noGrp="1"/>
          </p:cNvSpPr>
          <p:nvPr/>
        </p:nvSpPr>
        <p:spPr>
          <a:xfrm>
            <a:off x="445949" y="1303736"/>
            <a:ext cx="1283791" cy="486489"/>
          </a:xfrm>
          <a:prstGeom prst="roundRect">
            <a:avLst>
              <a:gd name="adj" fmla="val 5556"/>
            </a:avLst>
          </a:prstGeom>
          <a:solidFill>
            <a:srgbClr val="F5DFE9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7708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问题提出</a:t>
            </a: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真实图像分类任务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算法复现与应用分析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数据来源">
            <a:extLst>
              <a:ext uri="{FF2B5EF4-FFF2-40B4-BE49-F238E27FC236}">
                <a16:creationId xmlns:a16="http://schemas.microsoft.com/office/drawing/2014/main" id="{DB306263-6F47-4BA8-8656-896F12F94C01}"/>
              </a:ext>
            </a:extLst>
          </p:cNvPr>
          <p:cNvSpPr>
            <a:spLocks noGrp="1"/>
          </p:cNvSpPr>
          <p:nvPr/>
        </p:nvSpPr>
        <p:spPr>
          <a:xfrm>
            <a:off x="445949" y="1974592"/>
            <a:ext cx="1283791" cy="486489"/>
          </a:xfrm>
          <a:prstGeom prst="roundRect">
            <a:avLst>
              <a:gd name="adj" fmla="val 5556"/>
            </a:avLst>
          </a:prstGeom>
          <a:solidFill>
            <a:srgbClr val="DCECF7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公开数据来源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第七版公开图像库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筛选十二个常见类别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追溯索引">
            <a:extLst>
              <a:ext uri="{FF2B5EF4-FFF2-40B4-BE49-F238E27FC236}">
                <a16:creationId xmlns:a16="http://schemas.microsoft.com/office/drawing/2014/main" id="{6C2E43E0-1CE3-920C-9894-34490C8E0578}"/>
              </a:ext>
            </a:extLst>
          </p:cNvPr>
          <p:cNvSpPr>
            <a:spLocks noGrp="1"/>
          </p:cNvSpPr>
          <p:nvPr/>
        </p:nvSpPr>
        <p:spPr>
          <a:xfrm>
            <a:off x="445949" y="2643515"/>
            <a:ext cx="1283791" cy="527030"/>
          </a:xfrm>
          <a:prstGeom prst="roundRect">
            <a:avLst>
              <a:gd name="adj" fmla="val 5128"/>
            </a:avLst>
          </a:prstGeom>
          <a:solidFill>
            <a:srgbClr val="E9F5DF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样本索引保留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编号、类别、链接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作者、许可、本地路径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课程子集">
            <a:extLst>
              <a:ext uri="{FF2B5EF4-FFF2-40B4-BE49-F238E27FC236}">
                <a16:creationId xmlns:a16="http://schemas.microsoft.com/office/drawing/2014/main" id="{F68899A8-5B28-49D0-FE49-44CD9CD19C6B}"/>
              </a:ext>
            </a:extLst>
          </p:cNvPr>
          <p:cNvSpPr>
            <a:spLocks noGrp="1"/>
          </p:cNvSpPr>
          <p:nvPr/>
        </p:nvSpPr>
        <p:spPr>
          <a:xfrm>
            <a:off x="445949" y="3373249"/>
            <a:ext cx="1283791" cy="527030"/>
          </a:xfrm>
          <a:prstGeom prst="roundRect">
            <a:avLst>
              <a:gd name="adj" fmla="val 5128"/>
            </a:avLst>
          </a:prstGeom>
          <a:solidFill>
            <a:srgbClr val="FFF0C5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形成课程子集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七十五张图像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动物、交通工具、物体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5" name="闭环目标">
            <a:extLst>
              <a:ext uri="{FF2B5EF4-FFF2-40B4-BE49-F238E27FC236}">
                <a16:creationId xmlns:a16="http://schemas.microsoft.com/office/drawing/2014/main" id="{1A84F68F-87F5-9C61-2500-D35EDBAA139F}"/>
              </a:ext>
            </a:extLst>
          </p:cNvPr>
          <p:cNvSpPr>
            <a:spLocks noGrp="1"/>
          </p:cNvSpPr>
          <p:nvPr/>
        </p:nvSpPr>
        <p:spPr>
          <a:xfrm>
            <a:off x="445949" y="4109740"/>
            <a:ext cx="1283791" cy="418921"/>
          </a:xfrm>
          <a:prstGeom prst="roundRect">
            <a:avLst>
              <a:gd name="adj" fmla="val 6452"/>
            </a:avLst>
          </a:prstGeom>
          <a:solidFill>
            <a:srgbClr val="F3E8FF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88830" lnSpcReduction="20000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闭环目标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来源清楚、</a:t>
            </a:r>
            <a:r>
              <a:rPr sz="10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链路完整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结果可解释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图像下载清洗">
            <a:extLst>
              <a:ext uri="{FF2B5EF4-FFF2-40B4-BE49-F238E27FC236}">
                <a16:creationId xmlns:a16="http://schemas.microsoft.com/office/drawing/2014/main" id="{54E316B2-4B8B-C4C8-6E0E-699B5D368817}"/>
              </a:ext>
            </a:extLst>
          </p:cNvPr>
          <p:cNvSpPr>
            <a:spLocks noGrp="1"/>
          </p:cNvSpPr>
          <p:nvPr/>
        </p:nvSpPr>
        <p:spPr>
          <a:xfrm>
            <a:off x="2297311" y="1285398"/>
            <a:ext cx="1047304" cy="533788"/>
          </a:xfrm>
          <a:prstGeom prst="roundRect">
            <a:avLst>
              <a:gd name="adj" fmla="val 5263"/>
            </a:avLst>
          </a:prstGeom>
          <a:solidFill>
            <a:srgbClr val="DCECF7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图像下载与清洗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缩略图获取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失败样本记录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统一预处理">
            <a:extLst>
              <a:ext uri="{FF2B5EF4-FFF2-40B4-BE49-F238E27FC236}">
                <a16:creationId xmlns:a16="http://schemas.microsoft.com/office/drawing/2014/main" id="{1B6D4FC6-FCB2-5438-5B11-28D565C46ADE}"/>
              </a:ext>
            </a:extLst>
          </p:cNvPr>
          <p:cNvSpPr>
            <a:spLocks noGrp="1"/>
          </p:cNvSpPr>
          <p:nvPr/>
        </p:nvSpPr>
        <p:spPr>
          <a:xfrm>
            <a:off x="3648670" y="1271886"/>
            <a:ext cx="1047304" cy="547300"/>
          </a:xfrm>
          <a:prstGeom prst="roundRect">
            <a:avLst>
              <a:gd name="adj" fmla="val 5263"/>
            </a:avLst>
          </a:prstGeom>
          <a:solidFill>
            <a:srgbClr val="DCECF7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统一预处理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三通道彩色图像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六十四乘六十四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分层划分">
            <a:extLst>
              <a:ext uri="{FF2B5EF4-FFF2-40B4-BE49-F238E27FC236}">
                <a16:creationId xmlns:a16="http://schemas.microsoft.com/office/drawing/2014/main" id="{9780B909-7657-DB49-10F2-20ADB4234BD7}"/>
              </a:ext>
            </a:extLst>
          </p:cNvPr>
          <p:cNvSpPr>
            <a:spLocks noGrp="1"/>
          </p:cNvSpPr>
          <p:nvPr/>
        </p:nvSpPr>
        <p:spPr>
          <a:xfrm>
            <a:off x="2297310" y="1988105"/>
            <a:ext cx="1047304" cy="527030"/>
          </a:xfrm>
          <a:prstGeom prst="roundRect">
            <a:avLst>
              <a:gd name="adj" fmla="val 6061"/>
            </a:avLst>
          </a:prstGeom>
          <a:solidFill>
            <a:srgbClr val="E9F5DF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5911" lnSpcReduction="10000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分层划分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训练五十三张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验证十二张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测试十张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特征准备">
            <a:extLst>
              <a:ext uri="{FF2B5EF4-FFF2-40B4-BE49-F238E27FC236}">
                <a16:creationId xmlns:a16="http://schemas.microsoft.com/office/drawing/2014/main" id="{EE6AC09A-398A-1587-37CD-05DF1BF570BF}"/>
              </a:ext>
            </a:extLst>
          </p:cNvPr>
          <p:cNvSpPr>
            <a:spLocks noGrp="1"/>
          </p:cNvSpPr>
          <p:nvPr/>
        </p:nvSpPr>
        <p:spPr>
          <a:xfrm>
            <a:off x="3648670" y="2001619"/>
            <a:ext cx="1047304" cy="513516"/>
          </a:xfrm>
          <a:prstGeom prst="roundRect">
            <a:avLst>
              <a:gd name="adj" fmla="val 6061"/>
            </a:avLst>
          </a:prstGeom>
          <a:solidFill>
            <a:srgbClr val="E9F5DF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5911" lnSpcReduction="10000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特征准备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展平像素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卷积响应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颜色统计</a:t>
            </a:r>
            <a:endParaRPr sz="7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多层感知机">
            <a:extLst>
              <a:ext uri="{FF2B5EF4-FFF2-40B4-BE49-F238E27FC236}">
                <a16:creationId xmlns:a16="http://schemas.microsoft.com/office/drawing/2014/main" id="{F838EE7E-725F-B35E-546B-E4B02D3BF8B7}"/>
              </a:ext>
            </a:extLst>
          </p:cNvPr>
          <p:cNvSpPr>
            <a:spLocks noGrp="1"/>
          </p:cNvSpPr>
          <p:nvPr/>
        </p:nvSpPr>
        <p:spPr>
          <a:xfrm>
            <a:off x="5310842" y="1258371"/>
            <a:ext cx="891897" cy="500003"/>
          </a:xfrm>
          <a:prstGeom prst="roundRect">
            <a:avLst>
              <a:gd name="adj" fmla="val 5405"/>
            </a:avLst>
          </a:prstGeom>
          <a:solidFill>
            <a:srgbClr val="F5DFE9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多层感知机基线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展平像素输入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全连接分类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卷积局部特征">
            <a:extLst>
              <a:ext uri="{FF2B5EF4-FFF2-40B4-BE49-F238E27FC236}">
                <a16:creationId xmlns:a16="http://schemas.microsoft.com/office/drawing/2014/main" id="{EEEE5C20-1E81-CD40-27DF-4C4901EC569D}"/>
              </a:ext>
            </a:extLst>
          </p:cNvPr>
          <p:cNvSpPr>
            <a:spLocks noGrp="1"/>
          </p:cNvSpPr>
          <p:nvPr/>
        </p:nvSpPr>
        <p:spPr>
          <a:xfrm>
            <a:off x="6324362" y="1258371"/>
            <a:ext cx="891897" cy="500003"/>
          </a:xfrm>
          <a:prstGeom prst="roundRect">
            <a:avLst>
              <a:gd name="adj" fmla="val 5405"/>
            </a:avLst>
          </a:prstGeom>
          <a:solidFill>
            <a:srgbClr val="DFF0D8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卷积局部特征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边缘纹理响应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池化统计拼接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残差卷积网络">
            <a:extLst>
              <a:ext uri="{FF2B5EF4-FFF2-40B4-BE49-F238E27FC236}">
                <a16:creationId xmlns:a16="http://schemas.microsoft.com/office/drawing/2014/main" id="{318CCEA8-512B-13E8-C615-80FD28818B49}"/>
              </a:ext>
            </a:extLst>
          </p:cNvPr>
          <p:cNvSpPr>
            <a:spLocks noGrp="1"/>
          </p:cNvSpPr>
          <p:nvPr/>
        </p:nvSpPr>
        <p:spPr>
          <a:xfrm>
            <a:off x="7337882" y="1258371"/>
            <a:ext cx="891897" cy="500003"/>
          </a:xfrm>
          <a:prstGeom prst="roundRect">
            <a:avLst>
              <a:gd name="adj" fmla="val 5405"/>
            </a:avLst>
          </a:prstGeom>
          <a:solidFill>
            <a:srgbClr val="DCECF7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残差卷积网络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残差块入口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可扩展训练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对照实验">
            <a:extLst>
              <a:ext uri="{FF2B5EF4-FFF2-40B4-BE49-F238E27FC236}">
                <a16:creationId xmlns:a16="http://schemas.microsoft.com/office/drawing/2014/main" id="{485DA176-001A-3073-B843-8415BEE014BB}"/>
              </a:ext>
            </a:extLst>
          </p:cNvPr>
          <p:cNvSpPr>
            <a:spLocks noGrp="1"/>
          </p:cNvSpPr>
          <p:nvPr/>
        </p:nvSpPr>
        <p:spPr>
          <a:xfrm>
            <a:off x="5672380" y="2015132"/>
            <a:ext cx="2193010" cy="445949"/>
          </a:xfrm>
          <a:prstGeom prst="roundRect">
            <a:avLst>
              <a:gd name="adj" fmla="val 6061"/>
            </a:avLst>
          </a:prstGeom>
          <a:solidFill>
            <a:srgbClr val="FFF0C5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5381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对照实验</a:t>
            </a:r>
            <a:endParaRPr sz="900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同一数据划分</a:t>
            </a:r>
            <a:r>
              <a:rPr lang="zh-CN" altLang="en-US" sz="900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900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比较结构价值</a:t>
            </a:r>
            <a:endParaRPr sz="900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评价指标">
            <a:extLst>
              <a:ext uri="{FF2B5EF4-FFF2-40B4-BE49-F238E27FC236}">
                <a16:creationId xmlns:a16="http://schemas.microsoft.com/office/drawing/2014/main" id="{79FA4898-2DB1-214F-0055-A0C51B2E7AF0}"/>
              </a:ext>
            </a:extLst>
          </p:cNvPr>
          <p:cNvSpPr>
            <a:spLocks noGrp="1"/>
          </p:cNvSpPr>
          <p:nvPr/>
        </p:nvSpPr>
        <p:spPr>
          <a:xfrm>
            <a:off x="2297311" y="3150274"/>
            <a:ext cx="1233785" cy="513517"/>
          </a:xfrm>
          <a:prstGeom prst="roundRect">
            <a:avLst>
              <a:gd name="adj" fmla="val 5263"/>
            </a:avLst>
          </a:prstGeom>
          <a:solidFill>
            <a:srgbClr val="FFF0C5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8922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评价指标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准确率、宏平均调</a:t>
            </a:r>
            <a:endParaRPr lang="en-US"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和分数混淆矩阵</a:t>
            </a:r>
            <a:endParaRPr sz="9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当前结果">
            <a:extLst>
              <a:ext uri="{FF2B5EF4-FFF2-40B4-BE49-F238E27FC236}">
                <a16:creationId xmlns:a16="http://schemas.microsoft.com/office/drawing/2014/main" id="{FBDBB19A-A552-AF07-7612-EBDD3B36076C}"/>
              </a:ext>
            </a:extLst>
          </p:cNvPr>
          <p:cNvSpPr>
            <a:spLocks noGrp="1"/>
          </p:cNvSpPr>
          <p:nvPr/>
        </p:nvSpPr>
        <p:spPr>
          <a:xfrm>
            <a:off x="3743324" y="3150274"/>
            <a:ext cx="1499951" cy="513517"/>
          </a:xfrm>
          <a:prstGeom prst="roundRect">
            <a:avLst>
              <a:gd name="adj" fmla="val 5263"/>
            </a:avLst>
          </a:prstGeom>
          <a:solidFill>
            <a:srgbClr val="F5DFE9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Autofit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当前结果</a:t>
            </a:r>
            <a:endParaRPr sz="8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展平像素：准确率百分之十</a:t>
            </a:r>
            <a:endParaRPr sz="8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卷积特征：准确率百分之二十</a:t>
            </a:r>
            <a:endParaRPr sz="800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结果解释">
            <a:extLst>
              <a:ext uri="{FF2B5EF4-FFF2-40B4-BE49-F238E27FC236}">
                <a16:creationId xmlns:a16="http://schemas.microsoft.com/office/drawing/2014/main" id="{1B7804A7-9941-0DD3-5FAA-1041D8DA09D5}"/>
              </a:ext>
            </a:extLst>
          </p:cNvPr>
          <p:cNvSpPr>
            <a:spLocks noGrp="1"/>
          </p:cNvSpPr>
          <p:nvPr/>
        </p:nvSpPr>
        <p:spPr>
          <a:xfrm>
            <a:off x="5455503" y="3150274"/>
            <a:ext cx="1108115" cy="513517"/>
          </a:xfrm>
          <a:prstGeom prst="roundRect">
            <a:avLst>
              <a:gd name="adj" fmla="val 5263"/>
            </a:avLst>
          </a:prstGeom>
          <a:solidFill>
            <a:srgbClr val="DFF0D8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结果解释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卷积局部性提供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更有效图像信息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7" name="问题边界">
            <a:extLst>
              <a:ext uri="{FF2B5EF4-FFF2-40B4-BE49-F238E27FC236}">
                <a16:creationId xmlns:a16="http://schemas.microsoft.com/office/drawing/2014/main" id="{5A7EAD93-ACC7-4442-FF44-228F7CD40C62}"/>
              </a:ext>
            </a:extLst>
          </p:cNvPr>
          <p:cNvSpPr>
            <a:spLocks noGrp="1"/>
          </p:cNvSpPr>
          <p:nvPr/>
        </p:nvSpPr>
        <p:spPr>
          <a:xfrm>
            <a:off x="6931521" y="3150274"/>
            <a:ext cx="1108115" cy="513517"/>
          </a:xfrm>
          <a:prstGeom prst="roundRect">
            <a:avLst>
              <a:gd name="adj" fmla="val 5263"/>
            </a:avLst>
          </a:prstGeom>
          <a:solidFill>
            <a:srgbClr val="F5DFE9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问题边界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样本少、波动大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类别混淆、易过拟合</a:t>
            </a:r>
            <a:endParaRPr sz="85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8" name="改进方向">
            <a:extLst>
              <a:ext uri="{FF2B5EF4-FFF2-40B4-BE49-F238E27FC236}">
                <a16:creationId xmlns:a16="http://schemas.microsoft.com/office/drawing/2014/main" id="{08F332A6-D01B-7FC3-3F46-D5709A7329DC}"/>
              </a:ext>
            </a:extLst>
          </p:cNvPr>
          <p:cNvSpPr>
            <a:spLocks noGrp="1"/>
          </p:cNvSpPr>
          <p:nvPr/>
        </p:nvSpPr>
        <p:spPr>
          <a:xfrm>
            <a:off x="2297311" y="4001630"/>
            <a:ext cx="1108115" cy="631330"/>
          </a:xfrm>
          <a:prstGeom prst="roundRect">
            <a:avLst>
              <a:gd name="adj" fmla="val 5263"/>
            </a:avLst>
          </a:prstGeom>
          <a:solidFill>
            <a:srgbClr val="E9F5DF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3195"/>
          </a:bodyPr>
          <a:lstStyle/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扩充每类样本</a:t>
            </a: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加入数据增强</a:t>
            </a:r>
          </a:p>
          <a:p>
            <a:pPr algn="ctr">
              <a:lnSpc>
                <a:spcPct val="106000"/>
              </a:lnSpc>
              <a:buNone/>
              <a:defRPr sz="1200" b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端到端残差训练</a:t>
            </a:r>
          </a:p>
        </p:txBody>
      </p:sp>
      <p:sp>
        <p:nvSpPr>
          <p:cNvPr id="29" name="论文输出">
            <a:extLst>
              <a:ext uri="{FF2B5EF4-FFF2-40B4-BE49-F238E27FC236}">
                <a16:creationId xmlns:a16="http://schemas.microsoft.com/office/drawing/2014/main" id="{8BAF9F20-B1B8-3AD5-7166-237DD0192636}"/>
              </a:ext>
            </a:extLst>
          </p:cNvPr>
          <p:cNvSpPr>
            <a:spLocks noGrp="1"/>
          </p:cNvSpPr>
          <p:nvPr/>
        </p:nvSpPr>
        <p:spPr>
          <a:xfrm>
            <a:off x="4241801" y="4001630"/>
            <a:ext cx="3545840" cy="631330"/>
          </a:xfrm>
          <a:prstGeom prst="roundRect">
            <a:avLst>
              <a:gd name="adj" fmla="val 5263"/>
            </a:avLst>
          </a:prstGeom>
          <a:solidFill>
            <a:srgbClr val="FFF0C5"/>
          </a:solidFill>
          <a:ln w="12383">
            <a:solidFill>
              <a:srgbClr val="A4A4A4"/>
            </a:solidFill>
            <a:prstDash val="solid"/>
          </a:ln>
        </p:spPr>
        <p:txBody>
          <a:bodyPr wrap="square" lIns="47298" tIns="33784" rIns="47298" bIns="33784" anchor="ctr">
            <a:normAutofit fontScale="93195"/>
          </a:bodyPr>
          <a:lstStyle/>
          <a:p>
            <a:pPr algn="ctr">
              <a:lnSpc>
                <a:spcPct val="106000"/>
              </a:lnSpc>
              <a:buNone/>
              <a:defRPr sz="1200" b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论文闭环输出</a:t>
            </a:r>
            <a:r>
              <a:rPr lang="zh-CN" altLang="en-US" sz="851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问题提出、数据构建</a:t>
            </a:r>
            <a:r>
              <a:rPr lang="zh-CN" altLang="en-US" sz="851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模型选择、实验验证</a:t>
            </a:r>
            <a:r>
              <a:rPr lang="zh-CN" altLang="en-US" sz="851" b="1" dirty="0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、</a:t>
            </a:r>
            <a:r>
              <a:rPr sz="851" b="1" dirty="0" err="1">
                <a:solidFill>
                  <a:srgbClr val="24323F"/>
                </a:solidFill>
                <a:latin typeface="Microsoft YaHei"/>
                <a:ea typeface="Microsoft YaHei"/>
                <a:cs typeface="Microsoft YaHei"/>
              </a:rPr>
              <a:t>结论讨论</a:t>
            </a:r>
            <a:endParaRPr sz="851" b="1" dirty="0">
              <a:solidFill>
                <a:srgbClr val="24323F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83" name="直接箭头连接符 82">
            <a:extLst>
              <a:ext uri="{FF2B5EF4-FFF2-40B4-BE49-F238E27FC236}">
                <a16:creationId xmlns:a16="http://schemas.microsoft.com/office/drawing/2014/main" id="{B20DE312-45D2-3551-E06C-DC2BB51EA0C1}"/>
              </a:ext>
            </a:extLst>
          </p:cNvPr>
          <p:cNvCxnSpPr>
            <a:stCxn id="11" idx="2"/>
            <a:endCxn id="12" idx="0"/>
          </p:cNvCxnSpPr>
          <p:nvPr/>
        </p:nvCxnSpPr>
        <p:spPr>
          <a:xfrm>
            <a:off x="1087845" y="1790225"/>
            <a:ext cx="0" cy="184367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3346914B-8AEF-CE8F-2A1B-01EC2BB2C9E2}"/>
              </a:ext>
            </a:extLst>
          </p:cNvPr>
          <p:cNvCxnSpPr>
            <a:stCxn id="12" idx="2"/>
            <a:endCxn id="13" idx="0"/>
          </p:cNvCxnSpPr>
          <p:nvPr/>
        </p:nvCxnSpPr>
        <p:spPr>
          <a:xfrm>
            <a:off x="1087844" y="2461081"/>
            <a:ext cx="0" cy="182434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8A733A16-2645-B723-3C0F-E78C63E0B909}"/>
              </a:ext>
            </a:extLst>
          </p:cNvPr>
          <p:cNvCxnSpPr>
            <a:stCxn id="13" idx="2"/>
            <a:endCxn id="14" idx="0"/>
          </p:cNvCxnSpPr>
          <p:nvPr/>
        </p:nvCxnSpPr>
        <p:spPr>
          <a:xfrm>
            <a:off x="1087844" y="3170545"/>
            <a:ext cx="0" cy="202704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3FF559DB-078C-E49D-0D45-E3CC0D8E718F}"/>
              </a:ext>
            </a:extLst>
          </p:cNvPr>
          <p:cNvCxnSpPr>
            <a:stCxn id="14" idx="2"/>
            <a:endCxn id="15" idx="0"/>
          </p:cNvCxnSpPr>
          <p:nvPr/>
        </p:nvCxnSpPr>
        <p:spPr>
          <a:xfrm>
            <a:off x="1087844" y="3900279"/>
            <a:ext cx="0" cy="209461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88" name="直接箭头连接符 87">
            <a:extLst>
              <a:ext uri="{FF2B5EF4-FFF2-40B4-BE49-F238E27FC236}">
                <a16:creationId xmlns:a16="http://schemas.microsoft.com/office/drawing/2014/main" id="{027A5470-E550-D04B-2642-06FFFD203CD0}"/>
              </a:ext>
            </a:extLst>
          </p:cNvPr>
          <p:cNvCxnSpPr>
            <a:cxnSpLocks/>
            <a:stCxn id="16" idx="3"/>
            <a:endCxn id="17" idx="1"/>
          </p:cNvCxnSpPr>
          <p:nvPr/>
        </p:nvCxnSpPr>
        <p:spPr>
          <a:xfrm flipV="1">
            <a:off x="3344615" y="1545536"/>
            <a:ext cx="304055" cy="6756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2DE29C6C-1BE6-84DE-C003-C3778DC433E5}"/>
              </a:ext>
            </a:extLst>
          </p:cNvPr>
          <p:cNvCxnSpPr>
            <a:cxnSpLocks/>
            <a:stCxn id="16" idx="2"/>
            <a:endCxn id="18" idx="0"/>
          </p:cNvCxnSpPr>
          <p:nvPr/>
        </p:nvCxnSpPr>
        <p:spPr>
          <a:xfrm flipH="1">
            <a:off x="2820962" y="1819186"/>
            <a:ext cx="1" cy="168919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449F3BC2-CA00-AD93-085B-0C13E1F69330}"/>
              </a:ext>
            </a:extLst>
          </p:cNvPr>
          <p:cNvCxnSpPr>
            <a:cxnSpLocks/>
            <a:stCxn id="17" idx="2"/>
            <a:endCxn id="19" idx="0"/>
          </p:cNvCxnSpPr>
          <p:nvPr/>
        </p:nvCxnSpPr>
        <p:spPr>
          <a:xfrm>
            <a:off x="4172322" y="1819186"/>
            <a:ext cx="0" cy="182433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1228BCD4-A6F5-A8E9-CE23-51E7D764352C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>
            <a:off x="3344614" y="2251620"/>
            <a:ext cx="304056" cy="6757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260BE0C7-1CE8-3CAE-917E-85621889C97C}"/>
              </a:ext>
            </a:extLst>
          </p:cNvPr>
          <p:cNvCxnSpPr>
            <a:cxnSpLocks/>
            <a:stCxn id="20" idx="2"/>
            <a:endCxn id="23" idx="0"/>
          </p:cNvCxnSpPr>
          <p:nvPr/>
        </p:nvCxnSpPr>
        <p:spPr>
          <a:xfrm rot="16200000" flipH="1">
            <a:off x="6134459" y="1380706"/>
            <a:ext cx="256758" cy="1012094"/>
          </a:xfrm>
          <a:prstGeom prst="bentConnector3">
            <a:avLst>
              <a:gd name="adj1" fmla="val 50000"/>
            </a:avLst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C272A548-3578-A2AA-4FD3-8D679CB376C8}"/>
              </a:ext>
            </a:extLst>
          </p:cNvPr>
          <p:cNvCxnSpPr>
            <a:cxnSpLocks/>
            <a:stCxn id="21" idx="2"/>
            <a:endCxn id="23" idx="0"/>
          </p:cNvCxnSpPr>
          <p:nvPr/>
        </p:nvCxnSpPr>
        <p:spPr>
          <a:xfrm flipH="1">
            <a:off x="6768885" y="1758374"/>
            <a:ext cx="1426" cy="256758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7" name="连接符: 肘形 96">
            <a:extLst>
              <a:ext uri="{FF2B5EF4-FFF2-40B4-BE49-F238E27FC236}">
                <a16:creationId xmlns:a16="http://schemas.microsoft.com/office/drawing/2014/main" id="{D3688A72-4E8A-E4C6-EBCA-188A08BAAD49}"/>
              </a:ext>
            </a:extLst>
          </p:cNvPr>
          <p:cNvCxnSpPr>
            <a:cxnSpLocks/>
            <a:stCxn id="22" idx="2"/>
            <a:endCxn id="23" idx="0"/>
          </p:cNvCxnSpPr>
          <p:nvPr/>
        </p:nvCxnSpPr>
        <p:spPr>
          <a:xfrm rot="5400000">
            <a:off x="7147979" y="1379280"/>
            <a:ext cx="256758" cy="1014946"/>
          </a:xfrm>
          <a:prstGeom prst="bentConnector3">
            <a:avLst>
              <a:gd name="adj1" fmla="val 50000"/>
            </a:avLst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8" name="连接符: 肘形 97">
            <a:extLst>
              <a:ext uri="{FF2B5EF4-FFF2-40B4-BE49-F238E27FC236}">
                <a16:creationId xmlns:a16="http://schemas.microsoft.com/office/drawing/2014/main" id="{60E068A8-5B13-A2ED-9E4C-F4509DFA700C}"/>
              </a:ext>
            </a:extLst>
          </p:cNvPr>
          <p:cNvCxnSpPr>
            <a:cxnSpLocks/>
            <a:stCxn id="23" idx="2"/>
            <a:endCxn id="24" idx="0"/>
          </p:cNvCxnSpPr>
          <p:nvPr/>
        </p:nvCxnSpPr>
        <p:spPr>
          <a:xfrm rot="5400000">
            <a:off x="4496949" y="878337"/>
            <a:ext cx="689193" cy="3854681"/>
          </a:xfrm>
          <a:prstGeom prst="bentConnector3">
            <a:avLst>
              <a:gd name="adj1" fmla="val 89353"/>
            </a:avLst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99" name="直接箭头连接符 98">
            <a:extLst>
              <a:ext uri="{FF2B5EF4-FFF2-40B4-BE49-F238E27FC236}">
                <a16:creationId xmlns:a16="http://schemas.microsoft.com/office/drawing/2014/main" id="{61C0976D-AEAE-ED7C-FF59-DDE6D84089CD}"/>
              </a:ext>
            </a:extLst>
          </p:cNvPr>
          <p:cNvCxnSpPr>
            <a:cxnSpLocks/>
            <a:stCxn id="24" idx="3"/>
            <a:endCxn id="25" idx="1"/>
          </p:cNvCxnSpPr>
          <p:nvPr/>
        </p:nvCxnSpPr>
        <p:spPr>
          <a:xfrm>
            <a:off x="3531096" y="3407033"/>
            <a:ext cx="212228" cy="0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6BAC918A-5B48-A77E-1EAB-2ED9785DBCF9}"/>
              </a:ext>
            </a:extLst>
          </p:cNvPr>
          <p:cNvCxnSpPr>
            <a:cxnSpLocks/>
            <a:stCxn id="25" idx="3"/>
            <a:endCxn id="26" idx="1"/>
          </p:cNvCxnSpPr>
          <p:nvPr/>
        </p:nvCxnSpPr>
        <p:spPr>
          <a:xfrm>
            <a:off x="5243275" y="3407033"/>
            <a:ext cx="212228" cy="0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1" name="直接箭头连接符 100">
            <a:extLst>
              <a:ext uri="{FF2B5EF4-FFF2-40B4-BE49-F238E27FC236}">
                <a16:creationId xmlns:a16="http://schemas.microsoft.com/office/drawing/2014/main" id="{FB4BBCC3-9AE7-A021-1DE6-DC27266B8B1E}"/>
              </a:ext>
            </a:extLst>
          </p:cNvPr>
          <p:cNvCxnSpPr>
            <a:stCxn id="26" idx="3"/>
            <a:endCxn id="27" idx="1"/>
          </p:cNvCxnSpPr>
          <p:nvPr/>
        </p:nvCxnSpPr>
        <p:spPr>
          <a:xfrm>
            <a:off x="6563618" y="3407033"/>
            <a:ext cx="367903" cy="0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2" name="连接符: 肘形 101">
            <a:extLst>
              <a:ext uri="{FF2B5EF4-FFF2-40B4-BE49-F238E27FC236}">
                <a16:creationId xmlns:a16="http://schemas.microsoft.com/office/drawing/2014/main" id="{603C34CC-FB1F-CE9B-B0BC-5CD08C215380}"/>
              </a:ext>
            </a:extLst>
          </p:cNvPr>
          <p:cNvCxnSpPr>
            <a:cxnSpLocks/>
            <a:stCxn id="27" idx="2"/>
            <a:endCxn id="28" idx="0"/>
          </p:cNvCxnSpPr>
          <p:nvPr/>
        </p:nvCxnSpPr>
        <p:spPr>
          <a:xfrm rot="5400000">
            <a:off x="4999555" y="1515605"/>
            <a:ext cx="337839" cy="4634210"/>
          </a:xfrm>
          <a:prstGeom prst="bentConnector3">
            <a:avLst>
              <a:gd name="adj1" fmla="val 50000"/>
            </a:avLst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3" name="直接箭头连接符 102">
            <a:extLst>
              <a:ext uri="{FF2B5EF4-FFF2-40B4-BE49-F238E27FC236}">
                <a16:creationId xmlns:a16="http://schemas.microsoft.com/office/drawing/2014/main" id="{163449EC-5B0E-D982-4D02-E4BB61C2A5A3}"/>
              </a:ext>
            </a:extLst>
          </p:cNvPr>
          <p:cNvCxnSpPr>
            <a:cxnSpLocks/>
            <a:stCxn id="28" idx="3"/>
            <a:endCxn id="29" idx="1"/>
          </p:cNvCxnSpPr>
          <p:nvPr/>
        </p:nvCxnSpPr>
        <p:spPr>
          <a:xfrm>
            <a:off x="3405426" y="4317295"/>
            <a:ext cx="836375" cy="0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FA6AF42D-5CB4-3868-BF06-8F7726E6CFA4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>
            <a:off x="6009561" y="3663791"/>
            <a:ext cx="5160" cy="337839"/>
          </a:xfrm>
          <a:prstGeom prst="straightConnector1">
            <a:avLst/>
          </a:prstGeom>
          <a:ln w="19050">
            <a:solidFill>
              <a:srgbClr val="2F6583"/>
            </a:solidFill>
            <a:prstDash val="solid"/>
            <a:headEnd type="triangle" w="sm" len="sm"/>
          </a:ln>
        </p:spPr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AAA53A61-FB11-FD7C-9C01-E4BDB40AAE72}"/>
              </a:ext>
            </a:extLst>
          </p:cNvPr>
          <p:cNvCxnSpPr>
            <a:cxnSpLocks/>
            <a:stCxn id="15" idx="3"/>
            <a:endCxn id="28" idx="1"/>
          </p:cNvCxnSpPr>
          <p:nvPr/>
        </p:nvCxnSpPr>
        <p:spPr>
          <a:xfrm flipV="1">
            <a:off x="1729740" y="4317295"/>
            <a:ext cx="567571" cy="1906"/>
          </a:xfrm>
          <a:prstGeom prst="straightConnector1">
            <a:avLst/>
          </a:prstGeom>
          <a:ln w="19050">
            <a:solidFill>
              <a:srgbClr val="A16207"/>
            </a:solidFill>
            <a:prstDash val="solid"/>
            <a:headEnd type="triangle" w="sm" len="sm"/>
          </a:ln>
        </p:spPr>
      </p:cxnSp>
      <p:sp>
        <p:nvSpPr>
          <p:cNvPr id="53" name="矩形 52">
            <a:extLst>
              <a:ext uri="{FF2B5EF4-FFF2-40B4-BE49-F238E27FC236}">
                <a16:creationId xmlns:a16="http://schemas.microsoft.com/office/drawing/2014/main" id="{FA01F801-0DC7-9B58-3074-CC9648953E82}"/>
              </a:ext>
            </a:extLst>
          </p:cNvPr>
          <p:cNvSpPr>
            <a:spLocks noGrp="1"/>
          </p:cNvSpPr>
          <p:nvPr/>
        </p:nvSpPr>
        <p:spPr>
          <a:xfrm>
            <a:off x="1901533" y="2615350"/>
            <a:ext cx="5851386" cy="1891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27027" tIns="13514" rIns="27027" bIns="13514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1" i="0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8" b="1" dirty="0" err="1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rPr>
              <a:t>研究问题：展平像素为何不足，卷积结构如何利用空间局部性</a:t>
            </a:r>
            <a:r>
              <a:rPr sz="958" b="1" dirty="0">
                <a:solidFill>
                  <a:srgbClr val="7F1D1D"/>
                </a:solidFill>
                <a:latin typeface="Microsoft YaHei"/>
                <a:ea typeface="Microsoft YaHei"/>
                <a:cs typeface="Microsoft YaHei"/>
              </a:rPr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1072286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main-title">
            <a:extLst>
              <a:ext uri="{FF2B5EF4-FFF2-40B4-BE49-F238E27FC236}">
                <a16:creationId xmlns:a16="http://schemas.microsoft.com/office/drawing/2014/main" id="{BF3AE1EB-3B9B-4DB1-9F3D-AE7BAADA80AC}"/>
              </a:ext>
            </a:extLst>
          </p:cNvPr>
          <p:cNvSpPr>
            <a:spLocks noGrp="1"/>
          </p:cNvSpPr>
          <p:nvPr/>
        </p:nvSpPr>
        <p:spPr>
          <a:xfrm>
            <a:off x="333375" y="198942"/>
            <a:ext cx="3543300" cy="3638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1410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Open Images 数据库与子集图像</a:t>
            </a:r>
            <a:endParaRPr lang="en-US" sz="1600" b="1" dirty="0">
              <a:solidFill>
                <a:srgbClr val="101E36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title-underline-blue">
            <a:extLst>
              <a:ext uri="{FF2B5EF4-FFF2-40B4-BE49-F238E27FC236}">
                <a16:creationId xmlns:a16="http://schemas.microsoft.com/office/drawing/2014/main" id="{89A83869-0AF1-43B4-A2D6-6C68824DC46E}"/>
              </a:ext>
            </a:extLst>
          </p:cNvPr>
          <p:cNvSpPr>
            <a:spLocks noGrp="1"/>
          </p:cNvSpPr>
          <p:nvPr/>
        </p:nvSpPr>
        <p:spPr>
          <a:xfrm>
            <a:off x="342900" y="485775"/>
            <a:ext cx="1152525" cy="38100"/>
          </a:xfrm>
          <a:prstGeom prst="rect">
            <a:avLst/>
          </a:prstGeom>
          <a:solidFill>
            <a:srgbClr val="2F66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title-underline-yellow">
            <a:extLst>
              <a:ext uri="{FF2B5EF4-FFF2-40B4-BE49-F238E27FC236}">
                <a16:creationId xmlns:a16="http://schemas.microsoft.com/office/drawing/2014/main" id="{459209C7-006A-49CA-9C24-309FDA2195F3}"/>
              </a:ext>
            </a:extLst>
          </p:cNvPr>
          <p:cNvSpPr>
            <a:spLocks noGrp="1"/>
          </p:cNvSpPr>
          <p:nvPr/>
        </p:nvSpPr>
        <p:spPr>
          <a:xfrm>
            <a:off x="1019175" y="485775"/>
            <a:ext cx="523875" cy="38100"/>
          </a:xfrm>
          <a:prstGeom prst="rect">
            <a:avLst/>
          </a:prstGeom>
          <a:solidFill>
            <a:srgbClr val="E0A01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49599A99-7A12-4EFC-AD8A-D03E9AE9BAF1}"/>
              </a:ext>
            </a:extLst>
          </p:cNvPr>
          <p:cNvSpPr>
            <a:spLocks noGrp="1"/>
          </p:cNvSpPr>
          <p:nvPr/>
        </p:nvSpPr>
        <p:spPr>
          <a:xfrm>
            <a:off x="342900" y="571501"/>
            <a:ext cx="4476750" cy="1295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2500" lnSpcReduction="10000"/>
          </a:bodyPr>
          <a:lstStyle/>
          <a:p>
            <a:pPr algn="l">
              <a:defRPr sz="54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使用官方元数据筛选视觉类别，保留图像</a:t>
            </a:r>
            <a:r>
              <a:rPr lang="zh-CN" altLang="en-US" sz="10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来源</a:t>
            </a:r>
            <a:endParaRPr sz="1000" b="0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breadcrumb">
            <a:extLst>
              <a:ext uri="{FF2B5EF4-FFF2-40B4-BE49-F238E27FC236}">
                <a16:creationId xmlns:a16="http://schemas.microsoft.com/office/drawing/2014/main" id="{C6EED679-5DA8-4F78-9248-FCD440BCE413}"/>
              </a:ext>
            </a:extLst>
          </p:cNvPr>
          <p:cNvSpPr>
            <a:spLocks noGrp="1"/>
          </p:cNvSpPr>
          <p:nvPr/>
        </p:nvSpPr>
        <p:spPr>
          <a:xfrm>
            <a:off x="7115364" y="290513"/>
            <a:ext cx="1000125" cy="214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defRPr sz="458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Open Images · Residual CNN</a:t>
            </a:r>
          </a:p>
        </p:txBody>
      </p:sp>
      <p:sp>
        <p:nvSpPr>
          <p:cNvPr id="6" name="kpi-full-images-card">
            <a:extLst>
              <a:ext uri="{FF2B5EF4-FFF2-40B4-BE49-F238E27FC236}">
                <a16:creationId xmlns:a16="http://schemas.microsoft.com/office/drawing/2014/main" id="{65D24FE6-985A-4747-BEA4-51F648D04F60}"/>
              </a:ext>
            </a:extLst>
          </p:cNvPr>
          <p:cNvSpPr>
            <a:spLocks noGrp="1"/>
          </p:cNvSpPr>
          <p:nvPr/>
        </p:nvSpPr>
        <p:spPr>
          <a:xfrm>
            <a:off x="381000" y="809625"/>
            <a:ext cx="2419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kpi-full-images-accent">
            <a:extLst>
              <a:ext uri="{FF2B5EF4-FFF2-40B4-BE49-F238E27FC236}">
                <a16:creationId xmlns:a16="http://schemas.microsoft.com/office/drawing/2014/main" id="{4781848B-F464-442D-AE47-ED89C21638B0}"/>
              </a:ext>
            </a:extLst>
          </p:cNvPr>
          <p:cNvSpPr>
            <a:spLocks noGrp="1"/>
          </p:cNvSpPr>
          <p:nvPr/>
        </p:nvSpPr>
        <p:spPr>
          <a:xfrm>
            <a:off x="400050" y="819150"/>
            <a:ext cx="38100" cy="514350"/>
          </a:xfrm>
          <a:prstGeom prst="roundRect">
            <a:avLst>
              <a:gd name="adj" fmla="val 50000"/>
            </a:avLst>
          </a:prstGeom>
          <a:solidFill>
            <a:srgbClr val="2F66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kpi-full-images-title">
            <a:extLst>
              <a:ext uri="{FF2B5EF4-FFF2-40B4-BE49-F238E27FC236}">
                <a16:creationId xmlns:a16="http://schemas.microsoft.com/office/drawing/2014/main" id="{0DBCC02B-DF5B-430D-988A-5A6B91A3C0E4}"/>
              </a:ext>
            </a:extLst>
          </p:cNvPr>
          <p:cNvSpPr>
            <a:spLocks noGrp="1"/>
          </p:cNvSpPr>
          <p:nvPr/>
        </p:nvSpPr>
        <p:spPr>
          <a:xfrm>
            <a:off x="542925" y="867597"/>
            <a:ext cx="2133600" cy="151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lnSpcReduction="10000"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官方图像规模</a:t>
            </a:r>
            <a:endParaRPr sz="495" b="1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kpi-full-images-value">
            <a:extLst>
              <a:ext uri="{FF2B5EF4-FFF2-40B4-BE49-F238E27FC236}">
                <a16:creationId xmlns:a16="http://schemas.microsoft.com/office/drawing/2014/main" id="{2C96F23E-E5E8-42EE-835F-7D2A2E952B05}"/>
              </a:ext>
            </a:extLst>
          </p:cNvPr>
          <p:cNvSpPr>
            <a:spLocks noGrp="1"/>
          </p:cNvSpPr>
          <p:nvPr/>
        </p:nvSpPr>
        <p:spPr>
          <a:xfrm>
            <a:off x="542925" y="10763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9,178,275</a:t>
            </a:r>
          </a:p>
        </p:txBody>
      </p:sp>
      <p:sp>
        <p:nvSpPr>
          <p:cNvPr id="10" name="kpi-full-images-subtitle">
            <a:extLst>
              <a:ext uri="{FF2B5EF4-FFF2-40B4-BE49-F238E27FC236}">
                <a16:creationId xmlns:a16="http://schemas.microsoft.com/office/drawing/2014/main" id="{A4553716-027E-441A-9FAE-4ABA2C17A560}"/>
              </a:ext>
            </a:extLst>
          </p:cNvPr>
          <p:cNvSpPr>
            <a:spLocks noGrp="1"/>
          </p:cNvSpPr>
          <p:nvPr/>
        </p:nvSpPr>
        <p:spPr>
          <a:xfrm>
            <a:off x="542925" y="1247805"/>
            <a:ext cx="1028700" cy="8569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2500" lnSpcReduction="10000"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Open Images V7 </a:t>
            </a: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全量图像</a:t>
            </a:r>
            <a:endParaRPr sz="405" b="0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kpi-classes-card">
            <a:extLst>
              <a:ext uri="{FF2B5EF4-FFF2-40B4-BE49-F238E27FC236}">
                <a16:creationId xmlns:a16="http://schemas.microsoft.com/office/drawing/2014/main" id="{196DF5CA-D150-46AC-AFC6-951712CD691C}"/>
              </a:ext>
            </a:extLst>
          </p:cNvPr>
          <p:cNvSpPr>
            <a:spLocks noGrp="1"/>
          </p:cNvSpPr>
          <p:nvPr/>
        </p:nvSpPr>
        <p:spPr>
          <a:xfrm>
            <a:off x="3067050" y="809625"/>
            <a:ext cx="2419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kpi-classes-accent">
            <a:extLst>
              <a:ext uri="{FF2B5EF4-FFF2-40B4-BE49-F238E27FC236}">
                <a16:creationId xmlns:a16="http://schemas.microsoft.com/office/drawing/2014/main" id="{27B5B0D9-5C1A-4126-B016-22D7B1213F26}"/>
              </a:ext>
            </a:extLst>
          </p:cNvPr>
          <p:cNvSpPr>
            <a:spLocks noGrp="1"/>
          </p:cNvSpPr>
          <p:nvPr/>
        </p:nvSpPr>
        <p:spPr>
          <a:xfrm>
            <a:off x="3086100" y="819150"/>
            <a:ext cx="38100" cy="514350"/>
          </a:xfrm>
          <a:prstGeom prst="roundRect">
            <a:avLst>
              <a:gd name="adj" fmla="val 50000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kpi-classes-title">
            <a:extLst>
              <a:ext uri="{FF2B5EF4-FFF2-40B4-BE49-F238E27FC236}">
                <a16:creationId xmlns:a16="http://schemas.microsoft.com/office/drawing/2014/main" id="{6FEC79F6-DD06-4A87-829E-7E9BEBBB4855}"/>
              </a:ext>
            </a:extLst>
          </p:cNvPr>
          <p:cNvSpPr>
            <a:spLocks noGrp="1"/>
          </p:cNvSpPr>
          <p:nvPr/>
        </p:nvSpPr>
        <p:spPr>
          <a:xfrm>
            <a:off x="3216863" y="865833"/>
            <a:ext cx="2133600" cy="1896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官方类别规模</a:t>
            </a:r>
            <a:endParaRPr sz="600" b="1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kpi-classes-value">
            <a:extLst>
              <a:ext uri="{FF2B5EF4-FFF2-40B4-BE49-F238E27FC236}">
                <a16:creationId xmlns:a16="http://schemas.microsoft.com/office/drawing/2014/main" id="{C82A1BFA-9AAF-4B7B-8A17-7C3953A26CE7}"/>
              </a:ext>
            </a:extLst>
          </p:cNvPr>
          <p:cNvSpPr>
            <a:spLocks noGrp="1"/>
          </p:cNvSpPr>
          <p:nvPr/>
        </p:nvSpPr>
        <p:spPr>
          <a:xfrm>
            <a:off x="3228975" y="1076325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20,638</a:t>
            </a:r>
          </a:p>
        </p:txBody>
      </p:sp>
      <p:sp>
        <p:nvSpPr>
          <p:cNvPr id="15" name="kpi-classes-subtitle">
            <a:extLst>
              <a:ext uri="{FF2B5EF4-FFF2-40B4-BE49-F238E27FC236}">
                <a16:creationId xmlns:a16="http://schemas.microsoft.com/office/drawing/2014/main" id="{B27B773D-7E54-4326-9D08-E25A76B61911}"/>
              </a:ext>
            </a:extLst>
          </p:cNvPr>
          <p:cNvSpPr>
            <a:spLocks noGrp="1"/>
          </p:cNvSpPr>
          <p:nvPr/>
        </p:nvSpPr>
        <p:spPr>
          <a:xfrm>
            <a:off x="3228975" y="1246011"/>
            <a:ext cx="2152650" cy="874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lnSpcReduction="10000"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图像级标签类别</a:t>
            </a:r>
          </a:p>
        </p:txBody>
      </p:sp>
      <p:sp>
        <p:nvSpPr>
          <p:cNvPr id="16" name="kpi-labels-card">
            <a:extLst>
              <a:ext uri="{FF2B5EF4-FFF2-40B4-BE49-F238E27FC236}">
                <a16:creationId xmlns:a16="http://schemas.microsoft.com/office/drawing/2014/main" id="{D3EBE934-DE10-422A-AD6A-89829C72936F}"/>
              </a:ext>
            </a:extLst>
          </p:cNvPr>
          <p:cNvSpPr>
            <a:spLocks noGrp="1"/>
          </p:cNvSpPr>
          <p:nvPr/>
        </p:nvSpPr>
        <p:spPr>
          <a:xfrm>
            <a:off x="5762625" y="809625"/>
            <a:ext cx="2409825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kpi-labels-accent">
            <a:extLst>
              <a:ext uri="{FF2B5EF4-FFF2-40B4-BE49-F238E27FC236}">
                <a16:creationId xmlns:a16="http://schemas.microsoft.com/office/drawing/2014/main" id="{20E3569B-A0BF-4E22-BE02-B72A1C95C87B}"/>
              </a:ext>
            </a:extLst>
          </p:cNvPr>
          <p:cNvSpPr>
            <a:spLocks noGrp="1"/>
          </p:cNvSpPr>
          <p:nvPr/>
        </p:nvSpPr>
        <p:spPr>
          <a:xfrm>
            <a:off x="5781675" y="819150"/>
            <a:ext cx="38100" cy="514350"/>
          </a:xfrm>
          <a:prstGeom prst="roundRect">
            <a:avLst>
              <a:gd name="adj" fmla="val 50000"/>
            </a:avLst>
          </a:prstGeom>
          <a:solidFill>
            <a:srgbClr val="E0A01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kpi-labels-title">
            <a:extLst>
              <a:ext uri="{FF2B5EF4-FFF2-40B4-BE49-F238E27FC236}">
                <a16:creationId xmlns:a16="http://schemas.microsoft.com/office/drawing/2014/main" id="{8913FBB5-9D87-4694-AA06-A5A168549546}"/>
              </a:ext>
            </a:extLst>
          </p:cNvPr>
          <p:cNvSpPr>
            <a:spLocks noGrp="1"/>
          </p:cNvSpPr>
          <p:nvPr/>
        </p:nvSpPr>
        <p:spPr>
          <a:xfrm>
            <a:off x="5924550" y="865833"/>
            <a:ext cx="2124075" cy="15334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官方标签量</a:t>
            </a:r>
          </a:p>
        </p:txBody>
      </p:sp>
      <p:sp>
        <p:nvSpPr>
          <p:cNvPr id="19" name="kpi-labels-value">
            <a:extLst>
              <a:ext uri="{FF2B5EF4-FFF2-40B4-BE49-F238E27FC236}">
                <a16:creationId xmlns:a16="http://schemas.microsoft.com/office/drawing/2014/main" id="{23B2DC10-7A09-44FB-9F1E-E8C4A05A1A5B}"/>
              </a:ext>
            </a:extLst>
          </p:cNvPr>
          <p:cNvSpPr>
            <a:spLocks noGrp="1"/>
          </p:cNvSpPr>
          <p:nvPr/>
        </p:nvSpPr>
        <p:spPr>
          <a:xfrm>
            <a:off x="5924550" y="1076325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61,404,966</a:t>
            </a:r>
          </a:p>
        </p:txBody>
      </p:sp>
      <p:sp>
        <p:nvSpPr>
          <p:cNvPr id="20" name="kpi-labels-subtitle">
            <a:extLst>
              <a:ext uri="{FF2B5EF4-FFF2-40B4-BE49-F238E27FC236}">
                <a16:creationId xmlns:a16="http://schemas.microsoft.com/office/drawing/2014/main" id="{FB8E2EB3-8568-434E-A3BA-568CC1E5BDD1}"/>
              </a:ext>
            </a:extLst>
          </p:cNvPr>
          <p:cNvSpPr>
            <a:spLocks noGrp="1"/>
          </p:cNvSpPr>
          <p:nvPr/>
        </p:nvSpPr>
        <p:spPr>
          <a:xfrm>
            <a:off x="5924550" y="1245479"/>
            <a:ext cx="2143125" cy="8802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2500" lnSpcReduction="10000"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image-level labels</a:t>
            </a:r>
          </a:p>
        </p:txBody>
      </p:sp>
      <p:sp>
        <p:nvSpPr>
          <p:cNvPr id="21" name="kpi-pilot-images-card">
            <a:extLst>
              <a:ext uri="{FF2B5EF4-FFF2-40B4-BE49-F238E27FC236}">
                <a16:creationId xmlns:a16="http://schemas.microsoft.com/office/drawing/2014/main" id="{E90D971E-ACB0-46CE-899E-4E28E74F3A3D}"/>
              </a:ext>
            </a:extLst>
          </p:cNvPr>
          <p:cNvSpPr>
            <a:spLocks noGrp="1"/>
          </p:cNvSpPr>
          <p:nvPr/>
        </p:nvSpPr>
        <p:spPr>
          <a:xfrm>
            <a:off x="381000" y="1466850"/>
            <a:ext cx="2419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kpi-pilot-images-accent">
            <a:extLst>
              <a:ext uri="{FF2B5EF4-FFF2-40B4-BE49-F238E27FC236}">
                <a16:creationId xmlns:a16="http://schemas.microsoft.com/office/drawing/2014/main" id="{81C4B8A4-F9E8-4DD5-8D7D-9DF4D55ED5BC}"/>
              </a:ext>
            </a:extLst>
          </p:cNvPr>
          <p:cNvSpPr>
            <a:spLocks noGrp="1"/>
          </p:cNvSpPr>
          <p:nvPr/>
        </p:nvSpPr>
        <p:spPr>
          <a:xfrm>
            <a:off x="400050" y="1476375"/>
            <a:ext cx="38100" cy="514350"/>
          </a:xfrm>
          <a:prstGeom prst="roundRect">
            <a:avLst>
              <a:gd name="adj" fmla="val 50000"/>
            </a:avLst>
          </a:prstGeom>
          <a:solidFill>
            <a:srgbClr val="E15D4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kpi-pilot-images-title">
            <a:extLst>
              <a:ext uri="{FF2B5EF4-FFF2-40B4-BE49-F238E27FC236}">
                <a16:creationId xmlns:a16="http://schemas.microsoft.com/office/drawing/2014/main" id="{01DACDEA-49F0-4949-B726-B9C9E7960735}"/>
              </a:ext>
            </a:extLst>
          </p:cNvPr>
          <p:cNvSpPr>
            <a:spLocks noGrp="1"/>
          </p:cNvSpPr>
          <p:nvPr/>
        </p:nvSpPr>
        <p:spPr>
          <a:xfrm>
            <a:off x="521226" y="1520060"/>
            <a:ext cx="2133600" cy="1468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endParaRPr sz="495" b="1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kpi-pilot-images-value">
            <a:extLst>
              <a:ext uri="{FF2B5EF4-FFF2-40B4-BE49-F238E27FC236}">
                <a16:creationId xmlns:a16="http://schemas.microsoft.com/office/drawing/2014/main" id="{BE8E6CFC-3281-41EB-8BD3-F817002E1AA3}"/>
              </a:ext>
            </a:extLst>
          </p:cNvPr>
          <p:cNvSpPr>
            <a:spLocks noGrp="1"/>
          </p:cNvSpPr>
          <p:nvPr/>
        </p:nvSpPr>
        <p:spPr>
          <a:xfrm>
            <a:off x="542925" y="1733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75</a:t>
            </a:r>
          </a:p>
        </p:txBody>
      </p:sp>
      <p:sp>
        <p:nvSpPr>
          <p:cNvPr id="25" name="kpi-pilot-images-subtitle">
            <a:extLst>
              <a:ext uri="{FF2B5EF4-FFF2-40B4-BE49-F238E27FC236}">
                <a16:creationId xmlns:a16="http://schemas.microsoft.com/office/drawing/2014/main" id="{E5B78AB1-2D32-4363-BCBA-32B826CC4616}"/>
              </a:ext>
            </a:extLst>
          </p:cNvPr>
          <p:cNvSpPr>
            <a:spLocks noGrp="1"/>
          </p:cNvSpPr>
          <p:nvPr/>
        </p:nvSpPr>
        <p:spPr>
          <a:xfrm>
            <a:off x="542925" y="1892300"/>
            <a:ext cx="2152650" cy="98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随机抽样，可快速复现</a:t>
            </a:r>
          </a:p>
        </p:txBody>
      </p:sp>
      <p:sp>
        <p:nvSpPr>
          <p:cNvPr id="26" name="kpi-pilot-classes-card">
            <a:extLst>
              <a:ext uri="{FF2B5EF4-FFF2-40B4-BE49-F238E27FC236}">
                <a16:creationId xmlns:a16="http://schemas.microsoft.com/office/drawing/2014/main" id="{DC421460-6069-4555-AFCC-068770CECB5E}"/>
              </a:ext>
            </a:extLst>
          </p:cNvPr>
          <p:cNvSpPr>
            <a:spLocks noGrp="1"/>
          </p:cNvSpPr>
          <p:nvPr/>
        </p:nvSpPr>
        <p:spPr>
          <a:xfrm>
            <a:off x="3067050" y="1466850"/>
            <a:ext cx="2419350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kpi-pilot-classes-accent">
            <a:extLst>
              <a:ext uri="{FF2B5EF4-FFF2-40B4-BE49-F238E27FC236}">
                <a16:creationId xmlns:a16="http://schemas.microsoft.com/office/drawing/2014/main" id="{50C36B07-97F9-4444-A8E0-C7CFA6A6647E}"/>
              </a:ext>
            </a:extLst>
          </p:cNvPr>
          <p:cNvSpPr>
            <a:spLocks noGrp="1"/>
          </p:cNvSpPr>
          <p:nvPr/>
        </p:nvSpPr>
        <p:spPr>
          <a:xfrm>
            <a:off x="3086100" y="1476375"/>
            <a:ext cx="38100" cy="514350"/>
          </a:xfrm>
          <a:prstGeom prst="roundRect">
            <a:avLst>
              <a:gd name="adj" fmla="val 50000"/>
            </a:avLst>
          </a:prstGeom>
          <a:solidFill>
            <a:srgbClr val="8A7CF4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kpi-pilot-classes-title">
            <a:extLst>
              <a:ext uri="{FF2B5EF4-FFF2-40B4-BE49-F238E27FC236}">
                <a16:creationId xmlns:a16="http://schemas.microsoft.com/office/drawing/2014/main" id="{10EC12F8-6FEF-422E-8037-AA7C3E76DB41}"/>
              </a:ext>
            </a:extLst>
          </p:cNvPr>
          <p:cNvSpPr>
            <a:spLocks noGrp="1"/>
          </p:cNvSpPr>
          <p:nvPr/>
        </p:nvSpPr>
        <p:spPr>
          <a:xfrm>
            <a:off x="3228975" y="1508761"/>
            <a:ext cx="2133600" cy="1676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Pilot类别数</a:t>
            </a:r>
          </a:p>
        </p:txBody>
      </p:sp>
      <p:sp>
        <p:nvSpPr>
          <p:cNvPr id="29" name="kpi-pilot-classes-value">
            <a:extLst>
              <a:ext uri="{FF2B5EF4-FFF2-40B4-BE49-F238E27FC236}">
                <a16:creationId xmlns:a16="http://schemas.microsoft.com/office/drawing/2014/main" id="{A4BAC072-3739-44CC-89BE-B48AA6409505}"/>
              </a:ext>
            </a:extLst>
          </p:cNvPr>
          <p:cNvSpPr>
            <a:spLocks noGrp="1"/>
          </p:cNvSpPr>
          <p:nvPr/>
        </p:nvSpPr>
        <p:spPr>
          <a:xfrm>
            <a:off x="3228975" y="1733550"/>
            <a:ext cx="21526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30" name="kpi-pilot-classes-subtitle">
            <a:extLst>
              <a:ext uri="{FF2B5EF4-FFF2-40B4-BE49-F238E27FC236}">
                <a16:creationId xmlns:a16="http://schemas.microsoft.com/office/drawing/2014/main" id="{0629E9AB-067A-46F6-BAB2-0561F6182C46}"/>
              </a:ext>
            </a:extLst>
          </p:cNvPr>
          <p:cNvSpPr>
            <a:spLocks noGrp="1"/>
          </p:cNvSpPr>
          <p:nvPr/>
        </p:nvSpPr>
        <p:spPr>
          <a:xfrm>
            <a:off x="3228975" y="1911496"/>
            <a:ext cx="2152650" cy="7922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2500" lnSpcReduction="20000"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均衡筛选目标类</a:t>
            </a:r>
          </a:p>
        </p:txBody>
      </p:sp>
      <p:sp>
        <p:nvSpPr>
          <p:cNvPr id="31" name="kpi-size-card">
            <a:extLst>
              <a:ext uri="{FF2B5EF4-FFF2-40B4-BE49-F238E27FC236}">
                <a16:creationId xmlns:a16="http://schemas.microsoft.com/office/drawing/2014/main" id="{22078117-2501-475C-8C25-46D50B31F461}"/>
              </a:ext>
            </a:extLst>
          </p:cNvPr>
          <p:cNvSpPr>
            <a:spLocks noGrp="1"/>
          </p:cNvSpPr>
          <p:nvPr/>
        </p:nvSpPr>
        <p:spPr>
          <a:xfrm>
            <a:off x="5762625" y="1466850"/>
            <a:ext cx="2409825" cy="53340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kpi-size-accent">
            <a:extLst>
              <a:ext uri="{FF2B5EF4-FFF2-40B4-BE49-F238E27FC236}">
                <a16:creationId xmlns:a16="http://schemas.microsoft.com/office/drawing/2014/main" id="{D69B87DC-24FF-4881-9F37-B0379484C9B2}"/>
              </a:ext>
            </a:extLst>
          </p:cNvPr>
          <p:cNvSpPr>
            <a:spLocks noGrp="1"/>
          </p:cNvSpPr>
          <p:nvPr/>
        </p:nvSpPr>
        <p:spPr>
          <a:xfrm>
            <a:off x="5781675" y="1476375"/>
            <a:ext cx="38100" cy="514350"/>
          </a:xfrm>
          <a:prstGeom prst="roundRect">
            <a:avLst>
              <a:gd name="adj" fmla="val 50000"/>
            </a:avLst>
          </a:prstGeom>
          <a:solidFill>
            <a:srgbClr val="1697A6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kpi-size-title">
            <a:extLst>
              <a:ext uri="{FF2B5EF4-FFF2-40B4-BE49-F238E27FC236}">
                <a16:creationId xmlns:a16="http://schemas.microsoft.com/office/drawing/2014/main" id="{059D6408-EAF6-4607-B4B6-6560C7B3C4EA}"/>
              </a:ext>
            </a:extLst>
          </p:cNvPr>
          <p:cNvSpPr>
            <a:spLocks noGrp="1"/>
          </p:cNvSpPr>
          <p:nvPr/>
        </p:nvSpPr>
        <p:spPr>
          <a:xfrm>
            <a:off x="5924550" y="1485900"/>
            <a:ext cx="21240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图像尺寸</a:t>
            </a:r>
          </a:p>
        </p:txBody>
      </p:sp>
      <p:sp>
        <p:nvSpPr>
          <p:cNvPr id="34" name="kpi-size-value">
            <a:extLst>
              <a:ext uri="{FF2B5EF4-FFF2-40B4-BE49-F238E27FC236}">
                <a16:creationId xmlns:a16="http://schemas.microsoft.com/office/drawing/2014/main" id="{22E10EA6-17A0-40C1-AFE7-A9ED2E347B6E}"/>
              </a:ext>
            </a:extLst>
          </p:cNvPr>
          <p:cNvSpPr>
            <a:spLocks noGrp="1"/>
          </p:cNvSpPr>
          <p:nvPr/>
        </p:nvSpPr>
        <p:spPr>
          <a:xfrm>
            <a:off x="5924550" y="1733550"/>
            <a:ext cx="214312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3633" lnSpcReduction="10000"/>
          </a:bodyPr>
          <a:lstStyle/>
          <a:p>
            <a:pPr algn="l">
              <a:defRPr sz="133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35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64 × 64 × 3</a:t>
            </a:r>
          </a:p>
        </p:txBody>
      </p:sp>
      <p:sp>
        <p:nvSpPr>
          <p:cNvPr id="35" name="kpi-size-subtitle">
            <a:extLst>
              <a:ext uri="{FF2B5EF4-FFF2-40B4-BE49-F238E27FC236}">
                <a16:creationId xmlns:a16="http://schemas.microsoft.com/office/drawing/2014/main" id="{94A9C2DF-A583-4534-BCF1-3A037E7FDD61}"/>
              </a:ext>
            </a:extLst>
          </p:cNvPr>
          <p:cNvSpPr>
            <a:spLocks noGrp="1"/>
          </p:cNvSpPr>
          <p:nvPr/>
        </p:nvSpPr>
        <p:spPr>
          <a:xfrm>
            <a:off x="5924550" y="1892300"/>
            <a:ext cx="2143125" cy="984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Resize 后输入模型</a:t>
            </a:r>
          </a:p>
        </p:txBody>
      </p:sp>
      <p:sp>
        <p:nvSpPr>
          <p:cNvPr id="36" name="chart-panel">
            <a:extLst>
              <a:ext uri="{FF2B5EF4-FFF2-40B4-BE49-F238E27FC236}">
                <a16:creationId xmlns:a16="http://schemas.microsoft.com/office/drawing/2014/main" id="{E474D9DB-580B-4C4A-A7AC-83B6767052E8}"/>
              </a:ext>
            </a:extLst>
          </p:cNvPr>
          <p:cNvSpPr>
            <a:spLocks noGrp="1"/>
          </p:cNvSpPr>
          <p:nvPr/>
        </p:nvSpPr>
        <p:spPr>
          <a:xfrm>
            <a:off x="342900" y="2326817"/>
            <a:ext cx="3467100" cy="2781678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chart-title">
            <a:extLst>
              <a:ext uri="{FF2B5EF4-FFF2-40B4-BE49-F238E27FC236}">
                <a16:creationId xmlns:a16="http://schemas.microsoft.com/office/drawing/2014/main" id="{F1BE79E0-B4DA-4181-B861-D2D270067AA8}"/>
              </a:ext>
            </a:extLst>
          </p:cNvPr>
          <p:cNvSpPr>
            <a:spLocks noGrp="1"/>
          </p:cNvSpPr>
          <p:nvPr/>
        </p:nvSpPr>
        <p:spPr>
          <a:xfrm>
            <a:off x="533400" y="2427921"/>
            <a:ext cx="1428750" cy="248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91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Pilot 类别分布</a:t>
            </a:r>
          </a:p>
        </p:txBody>
      </p:sp>
      <p:sp>
        <p:nvSpPr>
          <p:cNvPr id="38" name="bar-1">
            <a:extLst>
              <a:ext uri="{FF2B5EF4-FFF2-40B4-BE49-F238E27FC236}">
                <a16:creationId xmlns:a16="http://schemas.microsoft.com/office/drawing/2014/main" id="{C9CCC1A2-AE97-4006-8542-7D89100C2259}"/>
              </a:ext>
            </a:extLst>
          </p:cNvPr>
          <p:cNvSpPr>
            <a:spLocks noGrp="1"/>
          </p:cNvSpPr>
          <p:nvPr/>
        </p:nvSpPr>
        <p:spPr>
          <a:xfrm>
            <a:off x="600075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bar-value-1">
            <a:extLst>
              <a:ext uri="{FF2B5EF4-FFF2-40B4-BE49-F238E27FC236}">
                <a16:creationId xmlns:a16="http://schemas.microsoft.com/office/drawing/2014/main" id="{1A5811D7-9E95-436F-BBF0-64647F109633}"/>
              </a:ext>
            </a:extLst>
          </p:cNvPr>
          <p:cNvSpPr>
            <a:spLocks noGrp="1"/>
          </p:cNvSpPr>
          <p:nvPr/>
        </p:nvSpPr>
        <p:spPr>
          <a:xfrm>
            <a:off x="590550" y="3091846"/>
            <a:ext cx="190500" cy="971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fontScale="92500" lnSpcReduction="10000"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0" name="bar-label-1">
            <a:extLst>
              <a:ext uri="{FF2B5EF4-FFF2-40B4-BE49-F238E27FC236}">
                <a16:creationId xmlns:a16="http://schemas.microsoft.com/office/drawing/2014/main" id="{46218E15-1B01-4FDF-8810-2F75C3933C59}"/>
              </a:ext>
            </a:extLst>
          </p:cNvPr>
          <p:cNvSpPr>
            <a:spLocks noGrp="1"/>
          </p:cNvSpPr>
          <p:nvPr/>
        </p:nvSpPr>
        <p:spPr>
          <a:xfrm>
            <a:off x="542925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狗</a:t>
            </a:r>
          </a:p>
        </p:txBody>
      </p:sp>
      <p:sp>
        <p:nvSpPr>
          <p:cNvPr id="41" name="bar-2">
            <a:extLst>
              <a:ext uri="{FF2B5EF4-FFF2-40B4-BE49-F238E27FC236}">
                <a16:creationId xmlns:a16="http://schemas.microsoft.com/office/drawing/2014/main" id="{1F4274F9-5B61-44DC-9D3D-F162C6758E64}"/>
              </a:ext>
            </a:extLst>
          </p:cNvPr>
          <p:cNvSpPr>
            <a:spLocks noGrp="1"/>
          </p:cNvSpPr>
          <p:nvPr/>
        </p:nvSpPr>
        <p:spPr>
          <a:xfrm>
            <a:off x="857250" y="2937510"/>
            <a:ext cx="171450" cy="1272540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bar-value-2">
            <a:extLst>
              <a:ext uri="{FF2B5EF4-FFF2-40B4-BE49-F238E27FC236}">
                <a16:creationId xmlns:a16="http://schemas.microsoft.com/office/drawing/2014/main" id="{45DBF290-E3DA-4D2D-92A6-C35CAAE47ABE}"/>
              </a:ext>
            </a:extLst>
          </p:cNvPr>
          <p:cNvSpPr>
            <a:spLocks noGrp="1"/>
          </p:cNvSpPr>
          <p:nvPr/>
        </p:nvSpPr>
        <p:spPr>
          <a:xfrm>
            <a:off x="847725" y="2794635"/>
            <a:ext cx="19050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  <p:sp>
        <p:nvSpPr>
          <p:cNvPr id="43" name="bar-label-2">
            <a:extLst>
              <a:ext uri="{FF2B5EF4-FFF2-40B4-BE49-F238E27FC236}">
                <a16:creationId xmlns:a16="http://schemas.microsoft.com/office/drawing/2014/main" id="{1286D6A2-8768-4D4B-94A2-203B216BE745}"/>
              </a:ext>
            </a:extLst>
          </p:cNvPr>
          <p:cNvSpPr>
            <a:spLocks noGrp="1"/>
          </p:cNvSpPr>
          <p:nvPr/>
        </p:nvSpPr>
        <p:spPr>
          <a:xfrm>
            <a:off x="795020" y="4305299"/>
            <a:ext cx="285750" cy="110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汽车</a:t>
            </a:r>
          </a:p>
        </p:txBody>
      </p:sp>
      <p:sp>
        <p:nvSpPr>
          <p:cNvPr id="44" name="bar-3">
            <a:extLst>
              <a:ext uri="{FF2B5EF4-FFF2-40B4-BE49-F238E27FC236}">
                <a16:creationId xmlns:a16="http://schemas.microsoft.com/office/drawing/2014/main" id="{FECD2290-B11A-43B0-BB38-E4C71CE3C74C}"/>
              </a:ext>
            </a:extLst>
          </p:cNvPr>
          <p:cNvSpPr>
            <a:spLocks noGrp="1"/>
          </p:cNvSpPr>
          <p:nvPr/>
        </p:nvSpPr>
        <p:spPr>
          <a:xfrm>
            <a:off x="1114425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bar-value-3">
            <a:extLst>
              <a:ext uri="{FF2B5EF4-FFF2-40B4-BE49-F238E27FC236}">
                <a16:creationId xmlns:a16="http://schemas.microsoft.com/office/drawing/2014/main" id="{C920E8BF-21D5-4FDB-8F09-C0B3EF95E303}"/>
              </a:ext>
            </a:extLst>
          </p:cNvPr>
          <p:cNvSpPr>
            <a:spLocks noGrp="1"/>
          </p:cNvSpPr>
          <p:nvPr/>
        </p:nvSpPr>
        <p:spPr>
          <a:xfrm>
            <a:off x="1104900" y="3079292"/>
            <a:ext cx="190500" cy="1096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46" name="bar-label-3">
            <a:extLst>
              <a:ext uri="{FF2B5EF4-FFF2-40B4-BE49-F238E27FC236}">
                <a16:creationId xmlns:a16="http://schemas.microsoft.com/office/drawing/2014/main" id="{8EDD4EA0-298D-48C7-9E3C-50A3D0151343}"/>
              </a:ext>
            </a:extLst>
          </p:cNvPr>
          <p:cNvSpPr>
            <a:spLocks noGrp="1"/>
          </p:cNvSpPr>
          <p:nvPr/>
        </p:nvSpPr>
        <p:spPr>
          <a:xfrm>
            <a:off x="1057275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摩托车</a:t>
            </a:r>
          </a:p>
        </p:txBody>
      </p:sp>
      <p:sp>
        <p:nvSpPr>
          <p:cNvPr id="47" name="bar-4">
            <a:extLst>
              <a:ext uri="{FF2B5EF4-FFF2-40B4-BE49-F238E27FC236}">
                <a16:creationId xmlns:a16="http://schemas.microsoft.com/office/drawing/2014/main" id="{6585EBBD-5346-430E-B5DF-61D5A85EC514}"/>
              </a:ext>
            </a:extLst>
          </p:cNvPr>
          <p:cNvSpPr>
            <a:spLocks noGrp="1"/>
          </p:cNvSpPr>
          <p:nvPr/>
        </p:nvSpPr>
        <p:spPr>
          <a:xfrm>
            <a:off x="1371600" y="3096578"/>
            <a:ext cx="171450" cy="1113473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bar-value-4">
            <a:extLst>
              <a:ext uri="{FF2B5EF4-FFF2-40B4-BE49-F238E27FC236}">
                <a16:creationId xmlns:a16="http://schemas.microsoft.com/office/drawing/2014/main" id="{9685A62B-6F51-4A71-9970-ECCB6174B0BC}"/>
              </a:ext>
            </a:extLst>
          </p:cNvPr>
          <p:cNvSpPr>
            <a:spLocks noGrp="1"/>
          </p:cNvSpPr>
          <p:nvPr/>
        </p:nvSpPr>
        <p:spPr>
          <a:xfrm>
            <a:off x="1362075" y="2905155"/>
            <a:ext cx="190500" cy="12474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49" name="bar-label-4">
            <a:extLst>
              <a:ext uri="{FF2B5EF4-FFF2-40B4-BE49-F238E27FC236}">
                <a16:creationId xmlns:a16="http://schemas.microsoft.com/office/drawing/2014/main" id="{6FEA580D-F13B-4A00-8F59-C750B8AFA5FF}"/>
              </a:ext>
            </a:extLst>
          </p:cNvPr>
          <p:cNvSpPr>
            <a:spLocks noGrp="1"/>
          </p:cNvSpPr>
          <p:nvPr/>
        </p:nvSpPr>
        <p:spPr>
          <a:xfrm>
            <a:off x="1314450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花</a:t>
            </a:r>
          </a:p>
        </p:txBody>
      </p:sp>
      <p:sp>
        <p:nvSpPr>
          <p:cNvPr id="50" name="bar-5">
            <a:extLst>
              <a:ext uri="{FF2B5EF4-FFF2-40B4-BE49-F238E27FC236}">
                <a16:creationId xmlns:a16="http://schemas.microsoft.com/office/drawing/2014/main" id="{C3FFCDBF-38CB-49DC-A79D-852C662A2624}"/>
              </a:ext>
            </a:extLst>
          </p:cNvPr>
          <p:cNvSpPr>
            <a:spLocks noGrp="1"/>
          </p:cNvSpPr>
          <p:nvPr/>
        </p:nvSpPr>
        <p:spPr>
          <a:xfrm>
            <a:off x="1628775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bar-value-5">
            <a:extLst>
              <a:ext uri="{FF2B5EF4-FFF2-40B4-BE49-F238E27FC236}">
                <a16:creationId xmlns:a16="http://schemas.microsoft.com/office/drawing/2014/main" id="{6630A300-EAE1-44A7-9908-87D1D53FD74C}"/>
              </a:ext>
            </a:extLst>
          </p:cNvPr>
          <p:cNvSpPr>
            <a:spLocks noGrp="1"/>
          </p:cNvSpPr>
          <p:nvPr/>
        </p:nvSpPr>
        <p:spPr>
          <a:xfrm>
            <a:off x="1619250" y="3057526"/>
            <a:ext cx="190500" cy="13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52" name="bar-label-5">
            <a:extLst>
              <a:ext uri="{FF2B5EF4-FFF2-40B4-BE49-F238E27FC236}">
                <a16:creationId xmlns:a16="http://schemas.microsoft.com/office/drawing/2014/main" id="{B6DC95D2-F126-4B69-BFF7-389EB87ADA07}"/>
              </a:ext>
            </a:extLst>
          </p:cNvPr>
          <p:cNvSpPr>
            <a:spLocks noGrp="1"/>
          </p:cNvSpPr>
          <p:nvPr/>
        </p:nvSpPr>
        <p:spPr>
          <a:xfrm>
            <a:off x="1571625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自行车</a:t>
            </a:r>
          </a:p>
        </p:txBody>
      </p:sp>
      <p:sp>
        <p:nvSpPr>
          <p:cNvPr id="53" name="bar-6">
            <a:extLst>
              <a:ext uri="{FF2B5EF4-FFF2-40B4-BE49-F238E27FC236}">
                <a16:creationId xmlns:a16="http://schemas.microsoft.com/office/drawing/2014/main" id="{AF567D17-5276-48AA-A120-A691B7100EB3}"/>
              </a:ext>
            </a:extLst>
          </p:cNvPr>
          <p:cNvSpPr>
            <a:spLocks noGrp="1"/>
          </p:cNvSpPr>
          <p:nvPr/>
        </p:nvSpPr>
        <p:spPr>
          <a:xfrm>
            <a:off x="1885950" y="3414713"/>
            <a:ext cx="171450" cy="795338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bar-value-6">
            <a:extLst>
              <a:ext uri="{FF2B5EF4-FFF2-40B4-BE49-F238E27FC236}">
                <a16:creationId xmlns:a16="http://schemas.microsoft.com/office/drawing/2014/main" id="{9A4DD177-9390-4C4B-8E1C-BA85AA5FBA50}"/>
              </a:ext>
            </a:extLst>
          </p:cNvPr>
          <p:cNvSpPr>
            <a:spLocks noGrp="1"/>
          </p:cNvSpPr>
          <p:nvPr/>
        </p:nvSpPr>
        <p:spPr>
          <a:xfrm>
            <a:off x="1876425" y="3225800"/>
            <a:ext cx="190500" cy="1222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5" name="bar-label-6">
            <a:extLst>
              <a:ext uri="{FF2B5EF4-FFF2-40B4-BE49-F238E27FC236}">
                <a16:creationId xmlns:a16="http://schemas.microsoft.com/office/drawing/2014/main" id="{B6AC6886-C3C8-4EC7-824C-6C21F07A813F}"/>
              </a:ext>
            </a:extLst>
          </p:cNvPr>
          <p:cNvSpPr>
            <a:spLocks noGrp="1"/>
          </p:cNvSpPr>
          <p:nvPr/>
        </p:nvSpPr>
        <p:spPr>
          <a:xfrm>
            <a:off x="1828800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船</a:t>
            </a:r>
          </a:p>
        </p:txBody>
      </p:sp>
      <p:sp>
        <p:nvSpPr>
          <p:cNvPr id="56" name="bar-7">
            <a:extLst>
              <a:ext uri="{FF2B5EF4-FFF2-40B4-BE49-F238E27FC236}">
                <a16:creationId xmlns:a16="http://schemas.microsoft.com/office/drawing/2014/main" id="{1714DCDD-E501-436C-A1EA-1B63B0927298}"/>
              </a:ext>
            </a:extLst>
          </p:cNvPr>
          <p:cNvSpPr>
            <a:spLocks noGrp="1"/>
          </p:cNvSpPr>
          <p:nvPr/>
        </p:nvSpPr>
        <p:spPr>
          <a:xfrm>
            <a:off x="2143125" y="3096578"/>
            <a:ext cx="171450" cy="1113473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bar-value-7">
            <a:extLst>
              <a:ext uri="{FF2B5EF4-FFF2-40B4-BE49-F238E27FC236}">
                <a16:creationId xmlns:a16="http://schemas.microsoft.com/office/drawing/2014/main" id="{7CACE74C-A07F-45C0-9BA3-9ABF1EE835FA}"/>
              </a:ext>
            </a:extLst>
          </p:cNvPr>
          <p:cNvSpPr>
            <a:spLocks noGrp="1"/>
          </p:cNvSpPr>
          <p:nvPr/>
        </p:nvSpPr>
        <p:spPr>
          <a:xfrm>
            <a:off x="2133600" y="2919383"/>
            <a:ext cx="19050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58" name="bar-label-7">
            <a:extLst>
              <a:ext uri="{FF2B5EF4-FFF2-40B4-BE49-F238E27FC236}">
                <a16:creationId xmlns:a16="http://schemas.microsoft.com/office/drawing/2014/main" id="{69894E9E-D74C-46CE-8D99-1304F276F076}"/>
              </a:ext>
            </a:extLst>
          </p:cNvPr>
          <p:cNvSpPr>
            <a:spLocks noGrp="1"/>
          </p:cNvSpPr>
          <p:nvPr/>
        </p:nvSpPr>
        <p:spPr>
          <a:xfrm>
            <a:off x="2085975" y="4305300"/>
            <a:ext cx="28575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房子</a:t>
            </a:r>
          </a:p>
        </p:txBody>
      </p:sp>
      <p:sp>
        <p:nvSpPr>
          <p:cNvPr id="59" name="bar-8">
            <a:extLst>
              <a:ext uri="{FF2B5EF4-FFF2-40B4-BE49-F238E27FC236}">
                <a16:creationId xmlns:a16="http://schemas.microsoft.com/office/drawing/2014/main" id="{4D6ABB2C-72E4-43FF-B0A6-FE3728C63365}"/>
              </a:ext>
            </a:extLst>
          </p:cNvPr>
          <p:cNvSpPr>
            <a:spLocks noGrp="1"/>
          </p:cNvSpPr>
          <p:nvPr/>
        </p:nvSpPr>
        <p:spPr>
          <a:xfrm>
            <a:off x="2400300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bar-value-8">
            <a:extLst>
              <a:ext uri="{FF2B5EF4-FFF2-40B4-BE49-F238E27FC236}">
                <a16:creationId xmlns:a16="http://schemas.microsoft.com/office/drawing/2014/main" id="{7F6DF4BE-16D0-48AD-9EA2-33C1AA3C3852}"/>
              </a:ext>
            </a:extLst>
          </p:cNvPr>
          <p:cNvSpPr>
            <a:spLocks noGrp="1"/>
          </p:cNvSpPr>
          <p:nvPr/>
        </p:nvSpPr>
        <p:spPr>
          <a:xfrm>
            <a:off x="2390775" y="3079292"/>
            <a:ext cx="190500" cy="1096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1" name="bar-label-8">
            <a:extLst>
              <a:ext uri="{FF2B5EF4-FFF2-40B4-BE49-F238E27FC236}">
                <a16:creationId xmlns:a16="http://schemas.microsoft.com/office/drawing/2014/main" id="{E5CC1F86-F423-49B0-9E3D-8CD4792C1A1E}"/>
              </a:ext>
            </a:extLst>
          </p:cNvPr>
          <p:cNvSpPr>
            <a:spLocks noGrp="1"/>
          </p:cNvSpPr>
          <p:nvPr/>
        </p:nvSpPr>
        <p:spPr>
          <a:xfrm>
            <a:off x="2341880" y="4317854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鸟</a:t>
            </a:r>
          </a:p>
        </p:txBody>
      </p:sp>
      <p:sp>
        <p:nvSpPr>
          <p:cNvPr id="62" name="bar-9">
            <a:extLst>
              <a:ext uri="{FF2B5EF4-FFF2-40B4-BE49-F238E27FC236}">
                <a16:creationId xmlns:a16="http://schemas.microsoft.com/office/drawing/2014/main" id="{D1910CB5-4390-436E-8BDB-047E8137DBFC}"/>
              </a:ext>
            </a:extLst>
          </p:cNvPr>
          <p:cNvSpPr>
            <a:spLocks noGrp="1"/>
          </p:cNvSpPr>
          <p:nvPr/>
        </p:nvSpPr>
        <p:spPr>
          <a:xfrm>
            <a:off x="2657475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bar-value-9">
            <a:extLst>
              <a:ext uri="{FF2B5EF4-FFF2-40B4-BE49-F238E27FC236}">
                <a16:creationId xmlns:a16="http://schemas.microsoft.com/office/drawing/2014/main" id="{9F4E0261-045C-4593-B26E-D733E9103FF9}"/>
              </a:ext>
            </a:extLst>
          </p:cNvPr>
          <p:cNvSpPr>
            <a:spLocks noGrp="1"/>
          </p:cNvSpPr>
          <p:nvPr/>
        </p:nvSpPr>
        <p:spPr>
          <a:xfrm>
            <a:off x="2647950" y="3078450"/>
            <a:ext cx="19050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64" name="bar-label-9">
            <a:extLst>
              <a:ext uri="{FF2B5EF4-FFF2-40B4-BE49-F238E27FC236}">
                <a16:creationId xmlns:a16="http://schemas.microsoft.com/office/drawing/2014/main" id="{26AC5E73-7DC9-4080-8D56-34021AEBD2D3}"/>
              </a:ext>
            </a:extLst>
          </p:cNvPr>
          <p:cNvSpPr>
            <a:spLocks noGrp="1"/>
          </p:cNvSpPr>
          <p:nvPr/>
        </p:nvSpPr>
        <p:spPr>
          <a:xfrm>
            <a:off x="2600325" y="4305300"/>
            <a:ext cx="28575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椅子</a:t>
            </a:r>
          </a:p>
        </p:txBody>
      </p:sp>
      <p:sp>
        <p:nvSpPr>
          <p:cNvPr id="65" name="bar-10">
            <a:extLst>
              <a:ext uri="{FF2B5EF4-FFF2-40B4-BE49-F238E27FC236}">
                <a16:creationId xmlns:a16="http://schemas.microsoft.com/office/drawing/2014/main" id="{7910809E-1EBF-4EAB-9A76-4459CBFD46FB}"/>
              </a:ext>
            </a:extLst>
          </p:cNvPr>
          <p:cNvSpPr>
            <a:spLocks noGrp="1"/>
          </p:cNvSpPr>
          <p:nvPr/>
        </p:nvSpPr>
        <p:spPr>
          <a:xfrm>
            <a:off x="2914650" y="3414713"/>
            <a:ext cx="171450" cy="795338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bar-value-10">
            <a:extLst>
              <a:ext uri="{FF2B5EF4-FFF2-40B4-BE49-F238E27FC236}">
                <a16:creationId xmlns:a16="http://schemas.microsoft.com/office/drawing/2014/main" id="{1EDA9DBD-F8B0-4C02-B7C4-B244FDA8830C}"/>
              </a:ext>
            </a:extLst>
          </p:cNvPr>
          <p:cNvSpPr>
            <a:spLocks noGrp="1"/>
          </p:cNvSpPr>
          <p:nvPr/>
        </p:nvSpPr>
        <p:spPr>
          <a:xfrm>
            <a:off x="2905125" y="3241040"/>
            <a:ext cx="190500" cy="1882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67" name="bar-label-10">
            <a:extLst>
              <a:ext uri="{FF2B5EF4-FFF2-40B4-BE49-F238E27FC236}">
                <a16:creationId xmlns:a16="http://schemas.microsoft.com/office/drawing/2014/main" id="{292A5C25-A106-466C-A84B-B105ECEED0D6}"/>
              </a:ext>
            </a:extLst>
          </p:cNvPr>
          <p:cNvSpPr>
            <a:spLocks noGrp="1"/>
          </p:cNvSpPr>
          <p:nvPr/>
        </p:nvSpPr>
        <p:spPr>
          <a:xfrm>
            <a:off x="2857500" y="4305300"/>
            <a:ext cx="28575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卡车</a:t>
            </a:r>
          </a:p>
        </p:txBody>
      </p:sp>
      <p:sp>
        <p:nvSpPr>
          <p:cNvPr id="68" name="bar-11">
            <a:extLst>
              <a:ext uri="{FF2B5EF4-FFF2-40B4-BE49-F238E27FC236}">
                <a16:creationId xmlns:a16="http://schemas.microsoft.com/office/drawing/2014/main" id="{8E0EFF53-26DD-4C67-BAF1-ADC9E5BCE274}"/>
              </a:ext>
            </a:extLst>
          </p:cNvPr>
          <p:cNvSpPr>
            <a:spLocks noGrp="1"/>
          </p:cNvSpPr>
          <p:nvPr/>
        </p:nvSpPr>
        <p:spPr>
          <a:xfrm>
            <a:off x="3171825" y="3096578"/>
            <a:ext cx="171450" cy="1113473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9" name="bar-value-11">
            <a:extLst>
              <a:ext uri="{FF2B5EF4-FFF2-40B4-BE49-F238E27FC236}">
                <a16:creationId xmlns:a16="http://schemas.microsoft.com/office/drawing/2014/main" id="{5E0471C0-9487-4980-8117-48167BD8E44B}"/>
              </a:ext>
            </a:extLst>
          </p:cNvPr>
          <p:cNvSpPr>
            <a:spLocks noGrp="1"/>
          </p:cNvSpPr>
          <p:nvPr/>
        </p:nvSpPr>
        <p:spPr>
          <a:xfrm>
            <a:off x="3162300" y="2919383"/>
            <a:ext cx="190500" cy="1105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70" name="bar-label-11">
            <a:extLst>
              <a:ext uri="{FF2B5EF4-FFF2-40B4-BE49-F238E27FC236}">
                <a16:creationId xmlns:a16="http://schemas.microsoft.com/office/drawing/2014/main" id="{75AD1A09-B5BF-47DF-BD24-F13B427E1259}"/>
              </a:ext>
            </a:extLst>
          </p:cNvPr>
          <p:cNvSpPr>
            <a:spLocks noGrp="1"/>
          </p:cNvSpPr>
          <p:nvPr/>
        </p:nvSpPr>
        <p:spPr>
          <a:xfrm>
            <a:off x="3114675" y="4305300"/>
            <a:ext cx="285750" cy="76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马</a:t>
            </a:r>
          </a:p>
        </p:txBody>
      </p:sp>
      <p:sp>
        <p:nvSpPr>
          <p:cNvPr id="71" name="bar-12">
            <a:extLst>
              <a:ext uri="{FF2B5EF4-FFF2-40B4-BE49-F238E27FC236}">
                <a16:creationId xmlns:a16="http://schemas.microsoft.com/office/drawing/2014/main" id="{9D20E833-AC5E-454E-AD61-EBE4BE4AF24B}"/>
              </a:ext>
            </a:extLst>
          </p:cNvPr>
          <p:cNvSpPr>
            <a:spLocks noGrp="1"/>
          </p:cNvSpPr>
          <p:nvPr/>
        </p:nvSpPr>
        <p:spPr>
          <a:xfrm>
            <a:off x="3429000" y="3255645"/>
            <a:ext cx="171450" cy="954405"/>
          </a:xfrm>
          <a:prstGeom prst="roundRect">
            <a:avLst>
              <a:gd name="adj" fmla="val 22222"/>
            </a:avLst>
          </a:prstGeom>
          <a:solidFill>
            <a:srgbClr val="1D7167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2" name="bar-value-12">
            <a:extLst>
              <a:ext uri="{FF2B5EF4-FFF2-40B4-BE49-F238E27FC236}">
                <a16:creationId xmlns:a16="http://schemas.microsoft.com/office/drawing/2014/main" id="{EBB58877-2D3B-4A28-AC14-5628DF6EF977}"/>
              </a:ext>
            </a:extLst>
          </p:cNvPr>
          <p:cNvSpPr>
            <a:spLocks noGrp="1"/>
          </p:cNvSpPr>
          <p:nvPr/>
        </p:nvSpPr>
        <p:spPr>
          <a:xfrm>
            <a:off x="3419475" y="3057526"/>
            <a:ext cx="190500" cy="13144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9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73" name="bar-label-12">
            <a:extLst>
              <a:ext uri="{FF2B5EF4-FFF2-40B4-BE49-F238E27FC236}">
                <a16:creationId xmlns:a16="http://schemas.microsoft.com/office/drawing/2014/main" id="{6A8ABD5B-CFF2-4967-AE0B-3ABD84C46DF4}"/>
              </a:ext>
            </a:extLst>
          </p:cNvPr>
          <p:cNvSpPr>
            <a:spLocks noGrp="1"/>
          </p:cNvSpPr>
          <p:nvPr/>
        </p:nvSpPr>
        <p:spPr>
          <a:xfrm>
            <a:off x="3371850" y="4305299"/>
            <a:ext cx="285750" cy="11052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ctr">
              <a:defRPr sz="405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飞机</a:t>
            </a:r>
          </a:p>
        </p:txBody>
      </p:sp>
      <p:sp>
        <p:nvSpPr>
          <p:cNvPr id="74" name="chart-caption">
            <a:extLst>
              <a:ext uri="{FF2B5EF4-FFF2-40B4-BE49-F238E27FC236}">
                <a16:creationId xmlns:a16="http://schemas.microsoft.com/office/drawing/2014/main" id="{2CB6C386-63E7-437B-86C4-1B2343360C06}"/>
              </a:ext>
            </a:extLst>
          </p:cNvPr>
          <p:cNvSpPr>
            <a:spLocks noGrp="1"/>
          </p:cNvSpPr>
          <p:nvPr/>
        </p:nvSpPr>
        <p:spPr>
          <a:xfrm>
            <a:off x="438150" y="4670488"/>
            <a:ext cx="3409949" cy="36004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5000"/>
              </a:lnSpc>
              <a:buNone/>
              <a:defRPr sz="42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每个类别由爬虫从验证集图像级标签文件中筛选，并下载官方缩略图，完整模式可将per_class参数调整为1000枚更高。</a:t>
            </a:r>
          </a:p>
        </p:txBody>
      </p:sp>
      <p:sp>
        <p:nvSpPr>
          <p:cNvPr id="75" name="data-panel">
            <a:extLst>
              <a:ext uri="{FF2B5EF4-FFF2-40B4-BE49-F238E27FC236}">
                <a16:creationId xmlns:a16="http://schemas.microsoft.com/office/drawing/2014/main" id="{77E3B476-1CE4-4760-8AE7-373F773407B9}"/>
              </a:ext>
            </a:extLst>
          </p:cNvPr>
          <p:cNvSpPr>
            <a:spLocks noGrp="1"/>
          </p:cNvSpPr>
          <p:nvPr/>
        </p:nvSpPr>
        <p:spPr>
          <a:xfrm>
            <a:off x="4086225" y="2305049"/>
            <a:ext cx="4181475" cy="2803445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6" name="data-title">
            <a:extLst>
              <a:ext uri="{FF2B5EF4-FFF2-40B4-BE49-F238E27FC236}">
                <a16:creationId xmlns:a16="http://schemas.microsoft.com/office/drawing/2014/main" id="{56DC436D-A45E-409F-9E3E-ADE1AFB8BCDD}"/>
              </a:ext>
            </a:extLst>
          </p:cNvPr>
          <p:cNvSpPr>
            <a:spLocks noGrp="1"/>
          </p:cNvSpPr>
          <p:nvPr/>
        </p:nvSpPr>
        <p:spPr>
          <a:xfrm>
            <a:off x="4267200" y="2427921"/>
            <a:ext cx="1428750" cy="2486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915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数据文件结构</a:t>
            </a:r>
          </a:p>
        </p:txBody>
      </p:sp>
      <p:sp>
        <p:nvSpPr>
          <p:cNvPr id="77" name="class-descriptions-row">
            <a:extLst>
              <a:ext uri="{FF2B5EF4-FFF2-40B4-BE49-F238E27FC236}">
                <a16:creationId xmlns:a16="http://schemas.microsoft.com/office/drawing/2014/main" id="{AC253ABB-A7EA-437E-8950-00CE148BD678}"/>
              </a:ext>
            </a:extLst>
          </p:cNvPr>
          <p:cNvSpPr>
            <a:spLocks noGrp="1"/>
          </p:cNvSpPr>
          <p:nvPr/>
        </p:nvSpPr>
        <p:spPr>
          <a:xfrm>
            <a:off x="4276725" y="2743200"/>
            <a:ext cx="3705225" cy="545465"/>
          </a:xfrm>
          <a:prstGeom prst="roundRect">
            <a:avLst>
              <a:gd name="adj" fmla="val 17949"/>
            </a:avLst>
          </a:prstGeom>
          <a:solidFill>
            <a:srgbClr val="DFF2EF"/>
          </a:solidFill>
          <a:ln w="7620">
            <a:solidFill>
              <a:srgbClr val="C8E4DE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78" name="class-descriptions-file">
            <a:extLst>
              <a:ext uri="{FF2B5EF4-FFF2-40B4-BE49-F238E27FC236}">
                <a16:creationId xmlns:a16="http://schemas.microsoft.com/office/drawing/2014/main" id="{5DB29F63-7F42-4179-81AD-3C82D30EFF8D}"/>
              </a:ext>
            </a:extLst>
          </p:cNvPr>
          <p:cNvSpPr>
            <a:spLocks noGrp="1"/>
          </p:cNvSpPr>
          <p:nvPr/>
        </p:nvSpPr>
        <p:spPr>
          <a:xfrm>
            <a:off x="4400550" y="2838449"/>
            <a:ext cx="1571625" cy="20979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18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0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oidv7-class-descriptions.csv</a:t>
            </a:r>
          </a:p>
        </p:txBody>
      </p:sp>
      <p:sp>
        <p:nvSpPr>
          <p:cNvPr id="79" name="class-descriptions-desc">
            <a:extLst>
              <a:ext uri="{FF2B5EF4-FFF2-40B4-BE49-F238E27FC236}">
                <a16:creationId xmlns:a16="http://schemas.microsoft.com/office/drawing/2014/main" id="{1BE8985D-EA53-4E9F-9B4E-77983502E3A2}"/>
              </a:ext>
            </a:extLst>
          </p:cNvPr>
          <p:cNvSpPr>
            <a:spLocks noGrp="1"/>
          </p:cNvSpPr>
          <p:nvPr/>
        </p:nvSpPr>
        <p:spPr>
          <a:xfrm>
            <a:off x="4400550" y="3076576"/>
            <a:ext cx="1619250" cy="97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MID 与类别名称映射</a:t>
            </a:r>
          </a:p>
        </p:txBody>
      </p:sp>
      <p:sp>
        <p:nvSpPr>
          <p:cNvPr id="80" name="class-descriptions-right">
            <a:extLst>
              <a:ext uri="{FF2B5EF4-FFF2-40B4-BE49-F238E27FC236}">
                <a16:creationId xmlns:a16="http://schemas.microsoft.com/office/drawing/2014/main" id="{458879D7-7254-4FFE-B185-0CF6F11F15C8}"/>
              </a:ext>
            </a:extLst>
          </p:cNvPr>
          <p:cNvSpPr>
            <a:spLocks noGrp="1"/>
          </p:cNvSpPr>
          <p:nvPr/>
        </p:nvSpPr>
        <p:spPr>
          <a:xfrm>
            <a:off x="6853426" y="2918013"/>
            <a:ext cx="1524000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58" b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rPr>
              <a:t>官方类别描述表</a:t>
            </a:r>
          </a:p>
        </p:txBody>
      </p:sp>
      <p:sp>
        <p:nvSpPr>
          <p:cNvPr id="81" name="human-labels-row">
            <a:extLst>
              <a:ext uri="{FF2B5EF4-FFF2-40B4-BE49-F238E27FC236}">
                <a16:creationId xmlns:a16="http://schemas.microsoft.com/office/drawing/2014/main" id="{DE90C92A-30A8-4C65-9282-4E13F752AE4D}"/>
              </a:ext>
            </a:extLst>
          </p:cNvPr>
          <p:cNvSpPr>
            <a:spLocks noGrp="1"/>
          </p:cNvSpPr>
          <p:nvPr/>
        </p:nvSpPr>
        <p:spPr>
          <a:xfrm>
            <a:off x="4276725" y="3336925"/>
            <a:ext cx="3705225" cy="545465"/>
          </a:xfrm>
          <a:prstGeom prst="roundRect">
            <a:avLst>
              <a:gd name="adj" fmla="val 17949"/>
            </a:avLst>
          </a:prstGeom>
          <a:solidFill>
            <a:srgbClr val="E7F0FE"/>
          </a:solidFill>
          <a:ln w="7620">
            <a:solidFill>
              <a:srgbClr val="D1E0F7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2" name="human-labels-file">
            <a:extLst>
              <a:ext uri="{FF2B5EF4-FFF2-40B4-BE49-F238E27FC236}">
                <a16:creationId xmlns:a16="http://schemas.microsoft.com/office/drawing/2014/main" id="{DA1B48B0-8208-47FA-BE86-5F86497D5D71}"/>
              </a:ext>
            </a:extLst>
          </p:cNvPr>
          <p:cNvSpPr>
            <a:spLocks noGrp="1"/>
          </p:cNvSpPr>
          <p:nvPr/>
        </p:nvSpPr>
        <p:spPr>
          <a:xfrm>
            <a:off x="4400550" y="3432175"/>
            <a:ext cx="1571625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18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oidv7-val-human-imagelabels.csv</a:t>
            </a:r>
          </a:p>
        </p:txBody>
      </p:sp>
      <p:sp>
        <p:nvSpPr>
          <p:cNvPr id="83" name="human-labels-desc">
            <a:extLst>
              <a:ext uri="{FF2B5EF4-FFF2-40B4-BE49-F238E27FC236}">
                <a16:creationId xmlns:a16="http://schemas.microsoft.com/office/drawing/2014/main" id="{567BE704-B098-4B16-9DAF-B708B2BE896E}"/>
              </a:ext>
            </a:extLst>
          </p:cNvPr>
          <p:cNvSpPr>
            <a:spLocks noGrp="1"/>
          </p:cNvSpPr>
          <p:nvPr/>
        </p:nvSpPr>
        <p:spPr>
          <a:xfrm>
            <a:off x="4400550" y="3613151"/>
            <a:ext cx="1619250" cy="97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ImageID、LabelName、Confidence</a:t>
            </a:r>
          </a:p>
        </p:txBody>
      </p:sp>
      <p:sp>
        <p:nvSpPr>
          <p:cNvPr id="84" name="human-labels-right">
            <a:extLst>
              <a:ext uri="{FF2B5EF4-FFF2-40B4-BE49-F238E27FC236}">
                <a16:creationId xmlns:a16="http://schemas.microsoft.com/office/drawing/2014/main" id="{C6E6D8B0-3BCA-470F-965F-AC9D4DF965A3}"/>
              </a:ext>
            </a:extLst>
          </p:cNvPr>
          <p:cNvSpPr>
            <a:spLocks noGrp="1"/>
          </p:cNvSpPr>
          <p:nvPr/>
        </p:nvSpPr>
        <p:spPr>
          <a:xfrm>
            <a:off x="6891655" y="3517835"/>
            <a:ext cx="1524000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58" b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rPr>
              <a:t>图像级人工标签</a:t>
            </a:r>
          </a:p>
        </p:txBody>
      </p:sp>
      <p:sp>
        <p:nvSpPr>
          <p:cNvPr id="85" name="validation-images-row">
            <a:extLst>
              <a:ext uri="{FF2B5EF4-FFF2-40B4-BE49-F238E27FC236}">
                <a16:creationId xmlns:a16="http://schemas.microsoft.com/office/drawing/2014/main" id="{81AF32C0-DEFF-4F7F-8F4D-C5CA9C53B892}"/>
              </a:ext>
            </a:extLst>
          </p:cNvPr>
          <p:cNvSpPr>
            <a:spLocks noGrp="1"/>
          </p:cNvSpPr>
          <p:nvPr/>
        </p:nvSpPr>
        <p:spPr>
          <a:xfrm>
            <a:off x="4276725" y="3935730"/>
            <a:ext cx="3705225" cy="545465"/>
          </a:xfrm>
          <a:prstGeom prst="roundRect">
            <a:avLst>
              <a:gd name="adj" fmla="val 17949"/>
            </a:avLst>
          </a:prstGeom>
          <a:solidFill>
            <a:srgbClr val="DFF2EF"/>
          </a:solidFill>
          <a:ln w="7620">
            <a:solidFill>
              <a:srgbClr val="C8E4DE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86" name="validation-images-file">
            <a:extLst>
              <a:ext uri="{FF2B5EF4-FFF2-40B4-BE49-F238E27FC236}">
                <a16:creationId xmlns:a16="http://schemas.microsoft.com/office/drawing/2014/main" id="{771B2023-7B28-48DD-A01F-288581CFE506}"/>
              </a:ext>
            </a:extLst>
          </p:cNvPr>
          <p:cNvSpPr>
            <a:spLocks noGrp="1"/>
          </p:cNvSpPr>
          <p:nvPr/>
        </p:nvSpPr>
        <p:spPr>
          <a:xfrm>
            <a:off x="4400550" y="4030980"/>
            <a:ext cx="1571625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18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validation-images-with-rotation.csv</a:t>
            </a:r>
          </a:p>
        </p:txBody>
      </p:sp>
      <p:sp>
        <p:nvSpPr>
          <p:cNvPr id="87" name="validation-images-desc">
            <a:extLst>
              <a:ext uri="{FF2B5EF4-FFF2-40B4-BE49-F238E27FC236}">
                <a16:creationId xmlns:a16="http://schemas.microsoft.com/office/drawing/2014/main" id="{1992D682-4999-4F97-B92E-3867F6A6FD9B}"/>
              </a:ext>
            </a:extLst>
          </p:cNvPr>
          <p:cNvSpPr>
            <a:spLocks noGrp="1"/>
          </p:cNvSpPr>
          <p:nvPr/>
        </p:nvSpPr>
        <p:spPr>
          <a:xfrm>
            <a:off x="4400550" y="4202431"/>
            <a:ext cx="1619250" cy="97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OriginalURL、Thumbnail300KURL、License</a:t>
            </a:r>
          </a:p>
        </p:txBody>
      </p:sp>
      <p:sp>
        <p:nvSpPr>
          <p:cNvPr id="88" name="validation-images-right">
            <a:extLst>
              <a:ext uri="{FF2B5EF4-FFF2-40B4-BE49-F238E27FC236}">
                <a16:creationId xmlns:a16="http://schemas.microsoft.com/office/drawing/2014/main" id="{CDAB0654-3990-455D-AE30-6DA981F49E72}"/>
              </a:ext>
            </a:extLst>
          </p:cNvPr>
          <p:cNvSpPr>
            <a:spLocks noGrp="1"/>
          </p:cNvSpPr>
          <p:nvPr/>
        </p:nvSpPr>
        <p:spPr>
          <a:xfrm>
            <a:off x="6917055" y="4114800"/>
            <a:ext cx="1524000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458" b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rPr>
              <a:t>图像URL清单</a:t>
            </a:r>
          </a:p>
        </p:txBody>
      </p:sp>
      <p:sp>
        <p:nvSpPr>
          <p:cNvPr id="89" name="pilot-images-row">
            <a:extLst>
              <a:ext uri="{FF2B5EF4-FFF2-40B4-BE49-F238E27FC236}">
                <a16:creationId xmlns:a16="http://schemas.microsoft.com/office/drawing/2014/main" id="{98BCE1C0-115C-4609-9B8B-E64F81BF1C4B}"/>
              </a:ext>
            </a:extLst>
          </p:cNvPr>
          <p:cNvSpPr>
            <a:spLocks noGrp="1"/>
          </p:cNvSpPr>
          <p:nvPr/>
        </p:nvSpPr>
        <p:spPr>
          <a:xfrm>
            <a:off x="4276725" y="4529455"/>
            <a:ext cx="3705225" cy="545465"/>
          </a:xfrm>
          <a:prstGeom prst="roundRect">
            <a:avLst>
              <a:gd name="adj" fmla="val 17949"/>
            </a:avLst>
          </a:prstGeom>
          <a:solidFill>
            <a:srgbClr val="E7F0FE"/>
          </a:solidFill>
          <a:ln w="7620">
            <a:solidFill>
              <a:srgbClr val="D1E0F7"/>
            </a:solidFill>
            <a:prstDash val="solid"/>
          </a:ln>
        </p:spPr>
        <p:txBody>
          <a:bodyPr/>
          <a:lstStyle/>
          <a:p>
            <a:endParaRPr lang="zh-CN" altLang="en-US" sz="3200"/>
          </a:p>
        </p:txBody>
      </p:sp>
      <p:sp>
        <p:nvSpPr>
          <p:cNvPr id="90" name="pilot-images-file">
            <a:extLst>
              <a:ext uri="{FF2B5EF4-FFF2-40B4-BE49-F238E27FC236}">
                <a16:creationId xmlns:a16="http://schemas.microsoft.com/office/drawing/2014/main" id="{B509F2DC-269E-4958-AD98-4AC3FC2A8CEF}"/>
              </a:ext>
            </a:extLst>
          </p:cNvPr>
          <p:cNvSpPr>
            <a:spLocks noGrp="1"/>
          </p:cNvSpPr>
          <p:nvPr/>
        </p:nvSpPr>
        <p:spPr>
          <a:xfrm>
            <a:off x="4400550" y="4624705"/>
            <a:ext cx="1571625" cy="1118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518" b="1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>
                <a:solidFill>
                  <a:srgbClr val="101E36"/>
                </a:solidFill>
                <a:latin typeface="Microsoft YaHei"/>
                <a:ea typeface="Microsoft YaHei"/>
                <a:cs typeface="Microsoft YaHei"/>
              </a:rPr>
              <a:t>openimages_pilot_images.csv</a:t>
            </a:r>
          </a:p>
        </p:txBody>
      </p:sp>
      <p:sp>
        <p:nvSpPr>
          <p:cNvPr id="91" name="pilot-images-desc">
            <a:extLst>
              <a:ext uri="{FF2B5EF4-FFF2-40B4-BE49-F238E27FC236}">
                <a16:creationId xmlns:a16="http://schemas.microsoft.com/office/drawing/2014/main" id="{FC6C4214-F0A6-43F8-973D-DCC88C4477B4}"/>
              </a:ext>
            </a:extLst>
          </p:cNvPr>
          <p:cNvSpPr>
            <a:spLocks noGrp="1"/>
          </p:cNvSpPr>
          <p:nvPr/>
        </p:nvSpPr>
        <p:spPr>
          <a:xfrm>
            <a:off x="4400550" y="4823461"/>
            <a:ext cx="1619250" cy="9790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/>
          <a:p>
            <a:pPr algn="l">
              <a:defRPr sz="390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本地图像、类别、来源、作者与授权</a:t>
            </a:r>
          </a:p>
        </p:txBody>
      </p:sp>
      <p:sp>
        <p:nvSpPr>
          <p:cNvPr id="92" name="pilot-images-right">
            <a:extLst>
              <a:ext uri="{FF2B5EF4-FFF2-40B4-BE49-F238E27FC236}">
                <a16:creationId xmlns:a16="http://schemas.microsoft.com/office/drawing/2014/main" id="{A1C9DA08-1F0E-449D-9D0A-E839948F60CB}"/>
              </a:ext>
            </a:extLst>
          </p:cNvPr>
          <p:cNvSpPr>
            <a:spLocks noGrp="1"/>
          </p:cNvSpPr>
          <p:nvPr/>
        </p:nvSpPr>
        <p:spPr>
          <a:xfrm>
            <a:off x="6901815" y="4684930"/>
            <a:ext cx="1524000" cy="26298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l">
              <a:defRPr sz="458" b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 dirty="0">
                <a:solidFill>
                  <a:srgbClr val="1D7167"/>
                </a:solidFill>
                <a:latin typeface="Microsoft YaHei"/>
                <a:ea typeface="Microsoft YaHei"/>
                <a:cs typeface="Microsoft YaHei"/>
              </a:rPr>
              <a:t>本项目样本表</a:t>
            </a:r>
          </a:p>
        </p:txBody>
      </p:sp>
      <p:sp>
        <p:nvSpPr>
          <p:cNvPr id="94" name="kpi-full-images-title">
            <a:extLst>
              <a:ext uri="{FF2B5EF4-FFF2-40B4-BE49-F238E27FC236}">
                <a16:creationId xmlns:a16="http://schemas.microsoft.com/office/drawing/2014/main" id="{A95A6C6B-2722-781A-055B-2D07833B1543}"/>
              </a:ext>
            </a:extLst>
          </p:cNvPr>
          <p:cNvSpPr>
            <a:spLocks noGrp="1"/>
          </p:cNvSpPr>
          <p:nvPr/>
        </p:nvSpPr>
        <p:spPr>
          <a:xfrm>
            <a:off x="522424" y="1538699"/>
            <a:ext cx="2133600" cy="151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 lnSpcReduction="10000"/>
          </a:bodyPr>
          <a:lstStyle/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Pilot </a:t>
            </a:r>
            <a:r>
              <a:rPr lang="zh-CN" altLang="en-US" sz="1000" b="1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图像数</a:t>
            </a:r>
          </a:p>
          <a:p>
            <a:pPr algn="l">
              <a:defRPr sz="495" b="1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endParaRPr sz="495" b="1" dirty="0">
              <a:solidFill>
                <a:srgbClr val="6E7E9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8807600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107000" r="-10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A32F7A0F-E198-D9A3-5170-3E0355B4F5A9}"/>
              </a:ext>
            </a:extLst>
          </p:cNvPr>
          <p:cNvSpPr/>
          <p:nvPr/>
        </p:nvSpPr>
        <p:spPr>
          <a:xfrm>
            <a:off x="4491262" y="812062"/>
            <a:ext cx="3714750" cy="417195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EB8F9487-8E02-1672-C0B8-EE32EA654382}"/>
              </a:ext>
            </a:extLst>
          </p:cNvPr>
          <p:cNvSpPr/>
          <p:nvPr/>
        </p:nvSpPr>
        <p:spPr>
          <a:xfrm>
            <a:off x="342900" y="1138462"/>
            <a:ext cx="3714750" cy="381930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left-input-box">
            <a:extLst>
              <a:ext uri="{FF2B5EF4-FFF2-40B4-BE49-F238E27FC236}">
                <a16:creationId xmlns:a16="http://schemas.microsoft.com/office/drawing/2014/main" id="{500786C3-7661-4BC6-9EFD-5C9ACADB8D0F}"/>
              </a:ext>
            </a:extLst>
          </p:cNvPr>
          <p:cNvSpPr>
            <a:spLocks noGrp="1"/>
          </p:cNvSpPr>
          <p:nvPr/>
        </p:nvSpPr>
        <p:spPr>
          <a:xfrm>
            <a:off x="762001" y="163353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9525">
            <a:solidFill>
              <a:srgbClr val="D8E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" name="left-flatten-box">
            <a:extLst>
              <a:ext uri="{FF2B5EF4-FFF2-40B4-BE49-F238E27FC236}">
                <a16:creationId xmlns:a16="http://schemas.microsoft.com/office/drawing/2014/main" id="{024E21E9-8D0A-4BC9-9DBB-520F6997A617}"/>
              </a:ext>
            </a:extLst>
          </p:cNvPr>
          <p:cNvSpPr>
            <a:spLocks noGrp="1"/>
          </p:cNvSpPr>
          <p:nvPr/>
        </p:nvSpPr>
        <p:spPr>
          <a:xfrm>
            <a:off x="762001" y="2100262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9525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left-fc1-box">
            <a:extLst>
              <a:ext uri="{FF2B5EF4-FFF2-40B4-BE49-F238E27FC236}">
                <a16:creationId xmlns:a16="http://schemas.microsoft.com/office/drawing/2014/main" id="{6B6972D1-A94E-45F5-9D14-4695146B4831}"/>
              </a:ext>
            </a:extLst>
          </p:cNvPr>
          <p:cNvSpPr>
            <a:spLocks noGrp="1"/>
          </p:cNvSpPr>
          <p:nvPr/>
        </p:nvSpPr>
        <p:spPr>
          <a:xfrm>
            <a:off x="762001" y="25669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left-fc2-box">
            <a:extLst>
              <a:ext uri="{FF2B5EF4-FFF2-40B4-BE49-F238E27FC236}">
                <a16:creationId xmlns:a16="http://schemas.microsoft.com/office/drawing/2014/main" id="{500B77FD-A11D-4E01-BB3D-52187EC5A09A}"/>
              </a:ext>
            </a:extLst>
          </p:cNvPr>
          <p:cNvSpPr>
            <a:spLocks noGrp="1"/>
          </p:cNvSpPr>
          <p:nvPr/>
        </p:nvSpPr>
        <p:spPr>
          <a:xfrm>
            <a:off x="762001" y="30241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left-output-box">
            <a:extLst>
              <a:ext uri="{FF2B5EF4-FFF2-40B4-BE49-F238E27FC236}">
                <a16:creationId xmlns:a16="http://schemas.microsoft.com/office/drawing/2014/main" id="{BE145785-137B-47DB-AA61-9F504DC469E3}"/>
              </a:ext>
            </a:extLst>
          </p:cNvPr>
          <p:cNvSpPr>
            <a:spLocks noGrp="1"/>
          </p:cNvSpPr>
          <p:nvPr/>
        </p:nvSpPr>
        <p:spPr>
          <a:xfrm>
            <a:off x="762001" y="34813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FFF7DA"/>
          </a:solidFill>
          <a:ln w="9525">
            <a:solidFill>
              <a:srgbClr val="F1E5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right-conv-box">
            <a:extLst>
              <a:ext uri="{FF2B5EF4-FFF2-40B4-BE49-F238E27FC236}">
                <a16:creationId xmlns:a16="http://schemas.microsoft.com/office/drawing/2014/main" id="{FCF41DD1-7D12-444E-A4F8-6CF6628003A8}"/>
              </a:ext>
            </a:extLst>
          </p:cNvPr>
          <p:cNvSpPr>
            <a:spLocks noGrp="1"/>
          </p:cNvSpPr>
          <p:nvPr/>
        </p:nvSpPr>
        <p:spPr>
          <a:xfrm>
            <a:off x="4991101" y="128073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AF2FF"/>
          </a:solidFill>
          <a:ln w="9525">
            <a:solidFill>
              <a:srgbClr val="D8E5F7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right-block32-box">
            <a:extLst>
              <a:ext uri="{FF2B5EF4-FFF2-40B4-BE49-F238E27FC236}">
                <a16:creationId xmlns:a16="http://schemas.microsoft.com/office/drawing/2014/main" id="{F8121830-D4D2-4CA2-A8BB-058147C998A0}"/>
              </a:ext>
            </a:extLst>
          </p:cNvPr>
          <p:cNvSpPr>
            <a:spLocks noGrp="1"/>
          </p:cNvSpPr>
          <p:nvPr/>
        </p:nvSpPr>
        <p:spPr>
          <a:xfrm>
            <a:off x="4991101" y="1747462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right-block64-box">
            <a:extLst>
              <a:ext uri="{FF2B5EF4-FFF2-40B4-BE49-F238E27FC236}">
                <a16:creationId xmlns:a16="http://schemas.microsoft.com/office/drawing/2014/main" id="{A9B1C783-6B5C-4FD0-89D1-372319FFED16}"/>
              </a:ext>
            </a:extLst>
          </p:cNvPr>
          <p:cNvSpPr>
            <a:spLocks noGrp="1"/>
          </p:cNvSpPr>
          <p:nvPr/>
        </p:nvSpPr>
        <p:spPr>
          <a:xfrm>
            <a:off x="4991101" y="22141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right-block128-box">
            <a:extLst>
              <a:ext uri="{FF2B5EF4-FFF2-40B4-BE49-F238E27FC236}">
                <a16:creationId xmlns:a16="http://schemas.microsoft.com/office/drawing/2014/main" id="{BF15B8D9-03BC-4FD0-BA76-4E43BDE0AD8B}"/>
              </a:ext>
            </a:extLst>
          </p:cNvPr>
          <p:cNvSpPr>
            <a:spLocks noGrp="1"/>
          </p:cNvSpPr>
          <p:nvPr/>
        </p:nvSpPr>
        <p:spPr>
          <a:xfrm>
            <a:off x="4991101" y="26713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right-block256-box">
            <a:extLst>
              <a:ext uri="{FF2B5EF4-FFF2-40B4-BE49-F238E27FC236}">
                <a16:creationId xmlns:a16="http://schemas.microsoft.com/office/drawing/2014/main" id="{9F88CB6D-29BF-48F6-AF25-AA2BE4CFEA76}"/>
              </a:ext>
            </a:extLst>
          </p:cNvPr>
          <p:cNvSpPr>
            <a:spLocks noGrp="1"/>
          </p:cNvSpPr>
          <p:nvPr/>
        </p:nvSpPr>
        <p:spPr>
          <a:xfrm>
            <a:off x="4991101" y="31285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7F5F1"/>
          </a:solidFill>
          <a:ln w="9525">
            <a:solidFill>
              <a:srgbClr val="D7EAE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right-gap-box">
            <a:extLst>
              <a:ext uri="{FF2B5EF4-FFF2-40B4-BE49-F238E27FC236}">
                <a16:creationId xmlns:a16="http://schemas.microsoft.com/office/drawing/2014/main" id="{0A264E56-424D-4B8F-B13C-001B971418C7}"/>
              </a:ext>
            </a:extLst>
          </p:cNvPr>
          <p:cNvSpPr>
            <a:spLocks noGrp="1"/>
          </p:cNvSpPr>
          <p:nvPr/>
        </p:nvSpPr>
        <p:spPr>
          <a:xfrm>
            <a:off x="4991101" y="3585787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EEF2F6"/>
          </a:solidFill>
          <a:ln w="9525">
            <a:solidFill>
              <a:srgbClr val="DDE5EC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right-output-box">
            <a:extLst>
              <a:ext uri="{FF2B5EF4-FFF2-40B4-BE49-F238E27FC236}">
                <a16:creationId xmlns:a16="http://schemas.microsoft.com/office/drawing/2014/main" id="{B5E7A367-3DAF-4D36-AE31-777567EBAAA1}"/>
              </a:ext>
            </a:extLst>
          </p:cNvPr>
          <p:cNvSpPr>
            <a:spLocks noGrp="1"/>
          </p:cNvSpPr>
          <p:nvPr/>
        </p:nvSpPr>
        <p:spPr>
          <a:xfrm>
            <a:off x="4991101" y="4052512"/>
            <a:ext cx="2714625" cy="323850"/>
          </a:xfrm>
          <a:prstGeom prst="roundRect">
            <a:avLst>
              <a:gd name="adj" fmla="val 23529"/>
            </a:avLst>
          </a:prstGeom>
          <a:solidFill>
            <a:srgbClr val="FFF7DA"/>
          </a:solidFill>
          <a:ln w="9525">
            <a:solidFill>
              <a:srgbClr val="F1E5B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itle">
            <a:extLst>
              <a:ext uri="{FF2B5EF4-FFF2-40B4-BE49-F238E27FC236}">
                <a16:creationId xmlns:a16="http://schemas.microsoft.com/office/drawing/2014/main" id="{B4CD5E85-F8A8-4C5C-BB90-26757EE83862}"/>
              </a:ext>
            </a:extLst>
          </p:cNvPr>
          <p:cNvSpPr>
            <a:spLocks noGrp="1"/>
          </p:cNvSpPr>
          <p:nvPr/>
        </p:nvSpPr>
        <p:spPr>
          <a:xfrm>
            <a:off x="304800" y="423862"/>
            <a:ext cx="4095750" cy="285750"/>
          </a:xfrm>
          <a:prstGeom prst="rect">
            <a:avLst/>
          </a:prstGeom>
          <a:solidFill>
            <a:srgbClr val="F7FAFC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1728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8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MLP 与 Residual CNN </a:t>
            </a:r>
            <a:r>
              <a:rPr sz="1728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模型结构对比</a:t>
            </a:r>
            <a:endParaRPr sz="1728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6" name="subtitle">
            <a:extLst>
              <a:ext uri="{FF2B5EF4-FFF2-40B4-BE49-F238E27FC236}">
                <a16:creationId xmlns:a16="http://schemas.microsoft.com/office/drawing/2014/main" id="{E86F687E-AA0C-4D00-AF29-8B84BEA16144}"/>
              </a:ext>
            </a:extLst>
          </p:cNvPr>
          <p:cNvSpPr>
            <a:spLocks noGrp="1"/>
          </p:cNvSpPr>
          <p:nvPr/>
        </p:nvSpPr>
        <p:spPr>
          <a:xfrm>
            <a:off x="323850" y="785812"/>
            <a:ext cx="3429000" cy="285749"/>
          </a:xfrm>
          <a:prstGeom prst="rect">
            <a:avLst/>
          </a:prstGeom>
          <a:solidFill>
            <a:srgbClr val="F7FAFC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639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dirty="0" err="1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同一图像输入下，展平全连接路径与卷积残差路径的信息流差异</a:t>
            </a:r>
            <a:endParaRPr sz="900" dirty="0">
              <a:solidFill>
                <a:srgbClr val="7A889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7" name="top-right-label">
            <a:extLst>
              <a:ext uri="{FF2B5EF4-FFF2-40B4-BE49-F238E27FC236}">
                <a16:creationId xmlns:a16="http://schemas.microsoft.com/office/drawing/2014/main" id="{D0ECEF82-B938-49AE-8A8B-46309D8BBA3C}"/>
              </a:ext>
            </a:extLst>
          </p:cNvPr>
          <p:cNvSpPr>
            <a:spLocks noGrp="1"/>
          </p:cNvSpPr>
          <p:nvPr/>
        </p:nvSpPr>
        <p:spPr>
          <a:xfrm>
            <a:off x="7086600" y="528638"/>
            <a:ext cx="1219200" cy="123825"/>
          </a:xfrm>
          <a:prstGeom prst="rect">
            <a:avLst/>
          </a:prstGeom>
          <a:solidFill>
            <a:srgbClr val="F7FAFC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r">
              <a:defRPr sz="558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Open Images · Residual CNN</a:t>
            </a:r>
          </a:p>
        </p:txBody>
      </p:sp>
      <p:sp>
        <p:nvSpPr>
          <p:cNvPr id="18" name="left-card-heading">
            <a:extLst>
              <a:ext uri="{FF2B5EF4-FFF2-40B4-BE49-F238E27FC236}">
                <a16:creationId xmlns:a16="http://schemas.microsoft.com/office/drawing/2014/main" id="{6E8E92FE-41A9-430B-93B7-2817E2EED4E1}"/>
              </a:ext>
            </a:extLst>
          </p:cNvPr>
          <p:cNvSpPr>
            <a:spLocks noGrp="1"/>
          </p:cNvSpPr>
          <p:nvPr/>
        </p:nvSpPr>
        <p:spPr>
          <a:xfrm>
            <a:off x="609600" y="1281112"/>
            <a:ext cx="142875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1170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MLP Baseline</a:t>
            </a:r>
          </a:p>
        </p:txBody>
      </p:sp>
      <p:sp>
        <p:nvSpPr>
          <p:cNvPr id="19" name="right-card-heading">
            <a:extLst>
              <a:ext uri="{FF2B5EF4-FFF2-40B4-BE49-F238E27FC236}">
                <a16:creationId xmlns:a16="http://schemas.microsoft.com/office/drawing/2014/main" id="{3F663272-E635-4155-AADB-32CF42879A11}"/>
              </a:ext>
            </a:extLst>
          </p:cNvPr>
          <p:cNvSpPr>
            <a:spLocks noGrp="1"/>
          </p:cNvSpPr>
          <p:nvPr/>
        </p:nvSpPr>
        <p:spPr>
          <a:xfrm>
            <a:off x="4824412" y="918974"/>
            <a:ext cx="1524000" cy="22860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1170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7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Residual CNN</a:t>
            </a:r>
          </a:p>
        </p:txBody>
      </p:sp>
      <p:sp>
        <p:nvSpPr>
          <p:cNvPr id="20" name="left-input-label">
            <a:extLst>
              <a:ext uri="{FF2B5EF4-FFF2-40B4-BE49-F238E27FC236}">
                <a16:creationId xmlns:a16="http://schemas.microsoft.com/office/drawing/2014/main" id="{CF0089E0-F557-4899-9B1D-BADEE0D01E6C}"/>
              </a:ext>
            </a:extLst>
          </p:cNvPr>
          <p:cNvSpPr>
            <a:spLocks noGrp="1"/>
          </p:cNvSpPr>
          <p:nvPr/>
        </p:nvSpPr>
        <p:spPr>
          <a:xfrm>
            <a:off x="762001" y="163353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64×64×3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图像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left-flatten-label">
            <a:extLst>
              <a:ext uri="{FF2B5EF4-FFF2-40B4-BE49-F238E27FC236}">
                <a16:creationId xmlns:a16="http://schemas.microsoft.com/office/drawing/2014/main" id="{FE826935-0F30-4964-A10C-232BE9EBEF03}"/>
              </a:ext>
            </a:extLst>
          </p:cNvPr>
          <p:cNvSpPr>
            <a:spLocks noGrp="1"/>
          </p:cNvSpPr>
          <p:nvPr/>
        </p:nvSpPr>
        <p:spPr>
          <a:xfrm>
            <a:off x="762001" y="2100262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Flatten → 12288维</a:t>
            </a:r>
          </a:p>
        </p:txBody>
      </p:sp>
      <p:sp>
        <p:nvSpPr>
          <p:cNvPr id="22" name="left-fc1-label">
            <a:extLst>
              <a:ext uri="{FF2B5EF4-FFF2-40B4-BE49-F238E27FC236}">
                <a16:creationId xmlns:a16="http://schemas.microsoft.com/office/drawing/2014/main" id="{74CC276F-4533-44CE-A108-466C662F93C2}"/>
              </a:ext>
            </a:extLst>
          </p:cNvPr>
          <p:cNvSpPr>
            <a:spLocks noGrp="1"/>
          </p:cNvSpPr>
          <p:nvPr/>
        </p:nvSpPr>
        <p:spPr>
          <a:xfrm>
            <a:off x="762001" y="25669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FC 12288→1024 +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ReLU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left-fc2-label">
            <a:extLst>
              <a:ext uri="{FF2B5EF4-FFF2-40B4-BE49-F238E27FC236}">
                <a16:creationId xmlns:a16="http://schemas.microsoft.com/office/drawing/2014/main" id="{6368DF9B-FDD0-4381-AB32-2F03EF9A84F9}"/>
              </a:ext>
            </a:extLst>
          </p:cNvPr>
          <p:cNvSpPr>
            <a:spLocks noGrp="1"/>
          </p:cNvSpPr>
          <p:nvPr/>
        </p:nvSpPr>
        <p:spPr>
          <a:xfrm>
            <a:off x="762001" y="30241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FC 1024→256 +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ReLU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left-output-label">
            <a:extLst>
              <a:ext uri="{FF2B5EF4-FFF2-40B4-BE49-F238E27FC236}">
                <a16:creationId xmlns:a16="http://schemas.microsoft.com/office/drawing/2014/main" id="{3D354501-27DF-45B0-99B0-CA17E2BC1DEC}"/>
              </a:ext>
            </a:extLst>
          </p:cNvPr>
          <p:cNvSpPr>
            <a:spLocks noGrp="1"/>
          </p:cNvSpPr>
          <p:nvPr/>
        </p:nvSpPr>
        <p:spPr>
          <a:xfrm>
            <a:off x="762001" y="34813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FC 256→C +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Softmax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5" name="right-conv-label">
            <a:extLst>
              <a:ext uri="{FF2B5EF4-FFF2-40B4-BE49-F238E27FC236}">
                <a16:creationId xmlns:a16="http://schemas.microsoft.com/office/drawing/2014/main" id="{E50FFFEE-50A8-45C7-82B0-DB40AAC7C6E4}"/>
              </a:ext>
            </a:extLst>
          </p:cNvPr>
          <p:cNvSpPr>
            <a:spLocks noGrp="1"/>
          </p:cNvSpPr>
          <p:nvPr/>
        </p:nvSpPr>
        <p:spPr>
          <a:xfrm>
            <a:off x="4991101" y="128073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Conv 3×3 + BN +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ReLU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6" name="right-block32-label">
            <a:extLst>
              <a:ext uri="{FF2B5EF4-FFF2-40B4-BE49-F238E27FC236}">
                <a16:creationId xmlns:a16="http://schemas.microsoft.com/office/drawing/2014/main" id="{FA941953-0AAB-45E4-938F-CE947C714372}"/>
              </a:ext>
            </a:extLst>
          </p:cNvPr>
          <p:cNvSpPr>
            <a:spLocks noGrp="1"/>
          </p:cNvSpPr>
          <p:nvPr/>
        </p:nvSpPr>
        <p:spPr>
          <a:xfrm>
            <a:off x="4991101" y="1747462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Residual Block 32</a:t>
            </a:r>
          </a:p>
        </p:txBody>
      </p:sp>
      <p:sp>
        <p:nvSpPr>
          <p:cNvPr id="27" name="right-block64-label">
            <a:extLst>
              <a:ext uri="{FF2B5EF4-FFF2-40B4-BE49-F238E27FC236}">
                <a16:creationId xmlns:a16="http://schemas.microsoft.com/office/drawing/2014/main" id="{D612F334-8C7D-4BD3-8D80-FCE12A77F4BA}"/>
              </a:ext>
            </a:extLst>
          </p:cNvPr>
          <p:cNvSpPr>
            <a:spLocks noGrp="1"/>
          </p:cNvSpPr>
          <p:nvPr/>
        </p:nvSpPr>
        <p:spPr>
          <a:xfrm>
            <a:off x="4991101" y="22141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Residual Block 64 / stride=2</a:t>
            </a:r>
          </a:p>
        </p:txBody>
      </p:sp>
      <p:sp>
        <p:nvSpPr>
          <p:cNvPr id="28" name="right-block128-label">
            <a:extLst>
              <a:ext uri="{FF2B5EF4-FFF2-40B4-BE49-F238E27FC236}">
                <a16:creationId xmlns:a16="http://schemas.microsoft.com/office/drawing/2014/main" id="{336385DD-3F7D-4712-B9C6-67CE0CA3C7AC}"/>
              </a:ext>
            </a:extLst>
          </p:cNvPr>
          <p:cNvSpPr>
            <a:spLocks noGrp="1"/>
          </p:cNvSpPr>
          <p:nvPr/>
        </p:nvSpPr>
        <p:spPr>
          <a:xfrm>
            <a:off x="4991101" y="26713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Residual Block 128 / stride=2</a:t>
            </a:r>
          </a:p>
        </p:txBody>
      </p:sp>
      <p:sp>
        <p:nvSpPr>
          <p:cNvPr id="29" name="right-block256-label">
            <a:extLst>
              <a:ext uri="{FF2B5EF4-FFF2-40B4-BE49-F238E27FC236}">
                <a16:creationId xmlns:a16="http://schemas.microsoft.com/office/drawing/2014/main" id="{7F1FC10B-7787-413E-BA83-83C2EF3DD0DA}"/>
              </a:ext>
            </a:extLst>
          </p:cNvPr>
          <p:cNvSpPr>
            <a:spLocks noGrp="1"/>
          </p:cNvSpPr>
          <p:nvPr/>
        </p:nvSpPr>
        <p:spPr>
          <a:xfrm>
            <a:off x="4991101" y="31285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Residual Block 256 / stride=2</a:t>
            </a:r>
          </a:p>
        </p:txBody>
      </p:sp>
      <p:sp>
        <p:nvSpPr>
          <p:cNvPr id="30" name="right-output-label">
            <a:extLst>
              <a:ext uri="{FF2B5EF4-FFF2-40B4-BE49-F238E27FC236}">
                <a16:creationId xmlns:a16="http://schemas.microsoft.com/office/drawing/2014/main" id="{A8AEA9F7-0EAE-4A84-A27A-033C727095B8}"/>
              </a:ext>
            </a:extLst>
          </p:cNvPr>
          <p:cNvSpPr>
            <a:spLocks noGrp="1"/>
          </p:cNvSpPr>
          <p:nvPr/>
        </p:nvSpPr>
        <p:spPr>
          <a:xfrm>
            <a:off x="4991101" y="4052512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Linear 256→C + </a:t>
            </a:r>
            <a:r>
              <a:rPr sz="1200" b="1" dirty="0" err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Softmax</a:t>
            </a:r>
            <a:endParaRPr sz="1200" b="1" dirty="0">
              <a:solidFill>
                <a:srgbClr val="14213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left-caption-heading">
            <a:extLst>
              <a:ext uri="{FF2B5EF4-FFF2-40B4-BE49-F238E27FC236}">
                <a16:creationId xmlns:a16="http://schemas.microsoft.com/office/drawing/2014/main" id="{E34C8105-7767-4C7A-BD2F-B9CB4CD46F7B}"/>
              </a:ext>
            </a:extLst>
          </p:cNvPr>
          <p:cNvSpPr>
            <a:spLocks noGrp="1"/>
          </p:cNvSpPr>
          <p:nvPr/>
        </p:nvSpPr>
        <p:spPr>
          <a:xfrm>
            <a:off x="676275" y="4316025"/>
            <a:ext cx="476250" cy="1785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558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MLP</a:t>
            </a:r>
          </a:p>
        </p:txBody>
      </p:sp>
      <p:sp>
        <p:nvSpPr>
          <p:cNvPr id="33" name="left-caption-body">
            <a:extLst>
              <a:ext uri="{FF2B5EF4-FFF2-40B4-BE49-F238E27FC236}">
                <a16:creationId xmlns:a16="http://schemas.microsoft.com/office/drawing/2014/main" id="{BB2940C8-5421-4FA3-9195-165872420CF4}"/>
              </a:ext>
            </a:extLst>
          </p:cNvPr>
          <p:cNvSpPr>
            <a:spLocks noGrp="1"/>
          </p:cNvSpPr>
          <p:nvPr/>
        </p:nvSpPr>
        <p:spPr>
          <a:xfrm>
            <a:off x="647700" y="4414837"/>
            <a:ext cx="2876550" cy="428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486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把图像展平成一维向量，直接学习全局像素关系，容易丢失空间局部性</a:t>
            </a:r>
            <a:r>
              <a:rPr sz="800" dirty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4" name="right-caption-left-cover">
            <a:extLst>
              <a:ext uri="{FF2B5EF4-FFF2-40B4-BE49-F238E27FC236}">
                <a16:creationId xmlns:a16="http://schemas.microsoft.com/office/drawing/2014/main" id="{34D7A44B-DAE1-4FD6-BD00-19334120B48E}"/>
              </a:ext>
            </a:extLst>
          </p:cNvPr>
          <p:cNvSpPr>
            <a:spLocks noGrp="1"/>
          </p:cNvSpPr>
          <p:nvPr/>
        </p:nvSpPr>
        <p:spPr>
          <a:xfrm>
            <a:off x="4876800" y="3623887"/>
            <a:ext cx="114300" cy="247650"/>
          </a:xfrm>
          <a:prstGeom prst="rect">
            <a:avLst/>
          </a:prstGeom>
          <a:solidFill>
            <a:srgbClr val="FFFFFF"/>
          </a:solidFill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endParaRPr/>
          </a:p>
        </p:txBody>
      </p:sp>
      <p:sp>
        <p:nvSpPr>
          <p:cNvPr id="35" name="right-caption-heading">
            <a:extLst>
              <a:ext uri="{FF2B5EF4-FFF2-40B4-BE49-F238E27FC236}">
                <a16:creationId xmlns:a16="http://schemas.microsoft.com/office/drawing/2014/main" id="{93FCC59A-74A2-4F41-BB4B-30FE424637C1}"/>
              </a:ext>
            </a:extLst>
          </p:cNvPr>
          <p:cNvSpPr>
            <a:spLocks noGrp="1"/>
          </p:cNvSpPr>
          <p:nvPr/>
        </p:nvSpPr>
        <p:spPr>
          <a:xfrm>
            <a:off x="4991100" y="4442328"/>
            <a:ext cx="857250" cy="194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558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Residual CNN</a:t>
            </a:r>
          </a:p>
        </p:txBody>
      </p:sp>
      <p:sp>
        <p:nvSpPr>
          <p:cNvPr id="36" name="right-caption-body">
            <a:extLst>
              <a:ext uri="{FF2B5EF4-FFF2-40B4-BE49-F238E27FC236}">
                <a16:creationId xmlns:a16="http://schemas.microsoft.com/office/drawing/2014/main" id="{2CA0FFC1-2D87-427A-BE60-2D22B446D8E3}"/>
              </a:ext>
            </a:extLst>
          </p:cNvPr>
          <p:cNvSpPr>
            <a:spLocks noGrp="1"/>
          </p:cNvSpPr>
          <p:nvPr/>
        </p:nvSpPr>
        <p:spPr>
          <a:xfrm>
            <a:off x="4991100" y="4595814"/>
            <a:ext cx="2495550" cy="19409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l">
              <a:defRPr sz="486" b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dirty="0" err="1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保留局部邻域与通道结构，通过残差连接缓解深层网络退化问题</a:t>
            </a:r>
            <a:r>
              <a:rPr sz="800" dirty="0">
                <a:solidFill>
                  <a:srgbClr val="7A8897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37" name="right-gap-label">
            <a:extLst>
              <a:ext uri="{FF2B5EF4-FFF2-40B4-BE49-F238E27FC236}">
                <a16:creationId xmlns:a16="http://schemas.microsoft.com/office/drawing/2014/main" id="{A211AC32-2B51-436C-9F9B-8558D4F24BD2}"/>
              </a:ext>
            </a:extLst>
          </p:cNvPr>
          <p:cNvSpPr>
            <a:spLocks noGrp="1"/>
          </p:cNvSpPr>
          <p:nvPr/>
        </p:nvSpPr>
        <p:spPr>
          <a:xfrm>
            <a:off x="4991101" y="3585787"/>
            <a:ext cx="271462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ctr"/>
          <a:lstStyle/>
          <a:p>
            <a:pPr algn="ctr">
              <a:defRPr sz="639" b="1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142138"/>
                </a:solidFill>
                <a:latin typeface="Microsoft YaHei"/>
                <a:ea typeface="Microsoft YaHei"/>
                <a:cs typeface="Microsoft YaHei"/>
              </a:rPr>
              <a:t>Global Average Pooling</a:t>
            </a:r>
          </a:p>
        </p:txBody>
      </p:sp>
      <p:sp>
        <p:nvSpPr>
          <p:cNvPr id="38" name="title-underline-blue">
            <a:extLst>
              <a:ext uri="{FF2B5EF4-FFF2-40B4-BE49-F238E27FC236}">
                <a16:creationId xmlns:a16="http://schemas.microsoft.com/office/drawing/2014/main" id="{2EC21968-1F01-2F1F-0E95-48FB9B8930CC}"/>
              </a:ext>
            </a:extLst>
          </p:cNvPr>
          <p:cNvSpPr>
            <a:spLocks noGrp="1"/>
          </p:cNvSpPr>
          <p:nvPr/>
        </p:nvSpPr>
        <p:spPr>
          <a:xfrm>
            <a:off x="342900" y="702749"/>
            <a:ext cx="1152525" cy="38100"/>
          </a:xfrm>
          <a:prstGeom prst="rect">
            <a:avLst/>
          </a:prstGeom>
          <a:solidFill>
            <a:srgbClr val="2F66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itle-underline-yellow">
            <a:extLst>
              <a:ext uri="{FF2B5EF4-FFF2-40B4-BE49-F238E27FC236}">
                <a16:creationId xmlns:a16="http://schemas.microsoft.com/office/drawing/2014/main" id="{AEDE3C73-6FA6-65F9-4CE0-9A70BAD3FE96}"/>
              </a:ext>
            </a:extLst>
          </p:cNvPr>
          <p:cNvSpPr>
            <a:spLocks noGrp="1"/>
          </p:cNvSpPr>
          <p:nvPr/>
        </p:nvSpPr>
        <p:spPr>
          <a:xfrm>
            <a:off x="1019175" y="702749"/>
            <a:ext cx="523875" cy="38100"/>
          </a:xfrm>
          <a:prstGeom prst="rect">
            <a:avLst/>
          </a:prstGeom>
          <a:solidFill>
            <a:srgbClr val="E0A01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91139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585000" r="-58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539DDD37-A014-9622-9A7B-B40A45023147}"/>
              </a:ext>
            </a:extLst>
          </p:cNvPr>
          <p:cNvSpPr/>
          <p:nvPr/>
        </p:nvSpPr>
        <p:spPr>
          <a:xfrm>
            <a:off x="131736" y="1232115"/>
            <a:ext cx="7983753" cy="184052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F45A00C9-8B7E-B6F0-D4E4-82CE79F0967C}"/>
              </a:ext>
            </a:extLst>
          </p:cNvPr>
          <p:cNvSpPr/>
          <p:nvPr/>
        </p:nvSpPr>
        <p:spPr>
          <a:xfrm>
            <a:off x="294252" y="2190808"/>
            <a:ext cx="1504473" cy="520273"/>
          </a:xfrm>
          <a:prstGeom prst="roundRect">
            <a:avLst/>
          </a:prstGeom>
          <a:gradFill>
            <a:gsLst>
              <a:gs pos="0">
                <a:schemeClr val="accent1">
                  <a:lumMod val="6000"/>
                  <a:lumOff val="94000"/>
                </a:schemeClr>
              </a:gs>
              <a:gs pos="39000">
                <a:schemeClr val="accent1">
                  <a:lumMod val="20000"/>
                  <a:lumOff val="80000"/>
                </a:schemeClr>
              </a:gs>
              <a:gs pos="89000">
                <a:schemeClr val="accent1">
                  <a:lumMod val="40000"/>
                  <a:lumOff val="60000"/>
                </a:schemeClr>
              </a:gs>
              <a:gs pos="14000">
                <a:srgbClr val="D9EEF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id="{CE2BD6DF-92D1-32E2-40E1-4F95E0DA3859}"/>
              </a:ext>
            </a:extLst>
          </p:cNvPr>
          <p:cNvSpPr/>
          <p:nvPr/>
        </p:nvSpPr>
        <p:spPr>
          <a:xfrm>
            <a:off x="324324" y="1494859"/>
            <a:ext cx="1504473" cy="520273"/>
          </a:xfrm>
          <a:prstGeom prst="roundRect">
            <a:avLst/>
          </a:prstGeom>
          <a:gradFill>
            <a:gsLst>
              <a:gs pos="0">
                <a:schemeClr val="accent1">
                  <a:lumMod val="6000"/>
                  <a:lumOff val="94000"/>
                </a:schemeClr>
              </a:gs>
              <a:gs pos="39000">
                <a:schemeClr val="accent1">
                  <a:lumMod val="20000"/>
                  <a:lumOff val="80000"/>
                </a:schemeClr>
              </a:gs>
              <a:gs pos="89000">
                <a:schemeClr val="accent1">
                  <a:lumMod val="40000"/>
                  <a:lumOff val="60000"/>
                </a:schemeClr>
              </a:gs>
              <a:gs pos="14000">
                <a:srgbClr val="D9EEFA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title">
            <a:extLst>
              <a:ext uri="{FF2B5EF4-FFF2-40B4-BE49-F238E27FC236}">
                <a16:creationId xmlns:a16="http://schemas.microsoft.com/office/drawing/2014/main" id="{627F848D-0969-49EA-8FC4-B2B04FF2EDE8}"/>
              </a:ext>
            </a:extLst>
          </p:cNvPr>
          <p:cNvSpPr>
            <a:spLocks noGrp="1"/>
          </p:cNvSpPr>
          <p:nvPr/>
        </p:nvSpPr>
        <p:spPr>
          <a:xfrm>
            <a:off x="324326" y="542150"/>
            <a:ext cx="2162175" cy="31081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700" b="1">
                <a:solidFill>
                  <a:srgbClr val="16223A"/>
                </a:solidFill>
              </a:defRPr>
            </a:pPr>
            <a:r>
              <a:rPr sz="1915" b="1" dirty="0" err="1">
                <a:solidFill>
                  <a:srgbClr val="16223A"/>
                </a:solidFill>
              </a:rPr>
              <a:t>模型结果对比</a:t>
            </a:r>
            <a:endParaRPr sz="1915" b="1" dirty="0">
              <a:solidFill>
                <a:srgbClr val="16223A"/>
              </a:solidFill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903A31B-6DB8-447F-B495-9C0FDFE05844}"/>
              </a:ext>
            </a:extLst>
          </p:cNvPr>
          <p:cNvSpPr>
            <a:spLocks noGrp="1"/>
          </p:cNvSpPr>
          <p:nvPr/>
        </p:nvSpPr>
        <p:spPr>
          <a:xfrm>
            <a:off x="324325" y="931601"/>
            <a:ext cx="5681267" cy="380824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526173"/>
                </a:solidFill>
              </a:defRPr>
            </a:pPr>
            <a:r>
              <a:rPr sz="1200" dirty="0">
                <a:solidFill>
                  <a:srgbClr val="526173"/>
                </a:solidFill>
              </a:rPr>
              <a:t>Pilot </a:t>
            </a:r>
            <a:r>
              <a:rPr sz="1200" dirty="0" err="1">
                <a:solidFill>
                  <a:srgbClr val="526173"/>
                </a:solidFill>
              </a:rPr>
              <a:t>数据上的快速复现实验：展开像素</a:t>
            </a:r>
            <a:r>
              <a:rPr sz="1200" dirty="0">
                <a:solidFill>
                  <a:srgbClr val="526173"/>
                </a:solidFill>
              </a:rPr>
              <a:t> </a:t>
            </a:r>
            <a:r>
              <a:rPr sz="1200" dirty="0">
                <a:solidFill>
                  <a:srgbClr val="526173"/>
                </a:solidFill>
                <a:latin typeface="+mn-ea"/>
                <a:cs typeface="Times New Roman" panose="02020603050405020304" pitchFamily="18" charset="0"/>
              </a:rPr>
              <a:t>MLP</a:t>
            </a:r>
            <a:r>
              <a:rPr sz="1200" dirty="0">
                <a:solidFill>
                  <a:srgbClr val="526173"/>
                </a:solidFill>
              </a:rPr>
              <a:t> </a:t>
            </a:r>
            <a:r>
              <a:rPr sz="1200" dirty="0" err="1">
                <a:solidFill>
                  <a:srgbClr val="526173"/>
                </a:solidFill>
              </a:rPr>
              <a:t>与局部卷积特征路径</a:t>
            </a:r>
            <a:endParaRPr sz="1200" dirty="0">
              <a:solidFill>
                <a:srgbClr val="526173"/>
              </a:solidFill>
            </a:endParaRPr>
          </a:p>
        </p:txBody>
      </p:sp>
      <p:sp>
        <p:nvSpPr>
          <p:cNvPr id="5" name="mlp-label">
            <a:extLst>
              <a:ext uri="{FF2B5EF4-FFF2-40B4-BE49-F238E27FC236}">
                <a16:creationId xmlns:a16="http://schemas.microsoft.com/office/drawing/2014/main" id="{7608A59C-CDE1-494A-86EA-699A02932AB8}"/>
              </a:ext>
            </a:extLst>
          </p:cNvPr>
          <p:cNvSpPr>
            <a:spLocks noGrp="1"/>
          </p:cNvSpPr>
          <p:nvPr/>
        </p:nvSpPr>
        <p:spPr>
          <a:xfrm>
            <a:off x="340982" y="1601875"/>
            <a:ext cx="1621632" cy="310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223A"/>
                </a:solidFill>
              </a:defRPr>
            </a:pPr>
            <a:r>
              <a:rPr sz="1400" b="1" dirty="0">
                <a:solidFill>
                  <a:srgbClr val="16223A"/>
                </a:solidFill>
              </a:rPr>
              <a:t>MLP(</a:t>
            </a:r>
            <a:r>
              <a:rPr sz="1400" b="1" dirty="0" err="1">
                <a:solidFill>
                  <a:srgbClr val="16223A"/>
                </a:solidFill>
              </a:rPr>
              <a:t>flattenpixels</a:t>
            </a:r>
            <a:r>
              <a:rPr sz="1400" b="1" dirty="0">
                <a:solidFill>
                  <a:srgbClr val="16223A"/>
                </a:solidFill>
              </a:rPr>
              <a:t>)</a:t>
            </a:r>
          </a:p>
        </p:txBody>
      </p:sp>
      <p:sp>
        <p:nvSpPr>
          <p:cNvPr id="6" name="Accuracy-label-183">
            <a:extLst>
              <a:ext uri="{FF2B5EF4-FFF2-40B4-BE49-F238E27FC236}">
                <a16:creationId xmlns:a16="http://schemas.microsoft.com/office/drawing/2014/main" id="{B2BB4E8C-C4A4-4DB5-BC24-72B9FE0A7016}"/>
              </a:ext>
            </a:extLst>
          </p:cNvPr>
          <p:cNvSpPr>
            <a:spLocks noGrp="1"/>
          </p:cNvSpPr>
          <p:nvPr/>
        </p:nvSpPr>
        <p:spPr>
          <a:xfrm>
            <a:off x="1948960" y="1454317"/>
            <a:ext cx="855563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sz="1400" b="1" dirty="0">
                <a:solidFill>
                  <a:srgbClr val="002060"/>
                </a:solidFill>
              </a:rPr>
              <a:t>Accuracy</a:t>
            </a:r>
          </a:p>
        </p:txBody>
      </p:sp>
      <p:sp>
        <p:nvSpPr>
          <p:cNvPr id="7" name="Accuracy-track-183">
            <a:extLst>
              <a:ext uri="{FF2B5EF4-FFF2-40B4-BE49-F238E27FC236}">
                <a16:creationId xmlns:a16="http://schemas.microsoft.com/office/drawing/2014/main" id="{D35A47B0-460B-4E1E-8C9C-1B7B2C73597F}"/>
              </a:ext>
            </a:extLst>
          </p:cNvPr>
          <p:cNvSpPr>
            <a:spLocks noGrp="1"/>
          </p:cNvSpPr>
          <p:nvPr/>
        </p:nvSpPr>
        <p:spPr>
          <a:xfrm>
            <a:off x="2924043" y="1494859"/>
            <a:ext cx="4358134" cy="182434"/>
          </a:xfrm>
          <a:prstGeom prst="roundRect">
            <a:avLst>
              <a:gd name="adj" fmla="val 50000"/>
            </a:avLst>
          </a:prstGeom>
          <a:solidFill>
            <a:srgbClr val="E8EE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8" name="Accuracy-bar-183">
            <a:extLst>
              <a:ext uri="{FF2B5EF4-FFF2-40B4-BE49-F238E27FC236}">
                <a16:creationId xmlns:a16="http://schemas.microsoft.com/office/drawing/2014/main" id="{059087F1-426E-479F-B161-0BF4EC44EA00}"/>
              </a:ext>
            </a:extLst>
          </p:cNvPr>
          <p:cNvSpPr>
            <a:spLocks noGrp="1"/>
          </p:cNvSpPr>
          <p:nvPr/>
        </p:nvSpPr>
        <p:spPr>
          <a:xfrm>
            <a:off x="2924043" y="1494859"/>
            <a:ext cx="435814" cy="182434"/>
          </a:xfrm>
          <a:prstGeom prst="roundRect">
            <a:avLst>
              <a:gd name="adj" fmla="val 50000"/>
            </a:avLst>
          </a:prstGeom>
          <a:solidFill>
            <a:srgbClr val="2F6A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10" name="Macro-F1-label-221">
            <a:extLst>
              <a:ext uri="{FF2B5EF4-FFF2-40B4-BE49-F238E27FC236}">
                <a16:creationId xmlns:a16="http://schemas.microsoft.com/office/drawing/2014/main" id="{881F821B-1F30-414D-9E5D-C2ACEFB12657}"/>
              </a:ext>
            </a:extLst>
          </p:cNvPr>
          <p:cNvSpPr>
            <a:spLocks noGrp="1"/>
          </p:cNvSpPr>
          <p:nvPr/>
        </p:nvSpPr>
        <p:spPr>
          <a:xfrm>
            <a:off x="1828798" y="1711075"/>
            <a:ext cx="979386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sz="1400" b="1" dirty="0">
                <a:solidFill>
                  <a:srgbClr val="7030A0"/>
                </a:solidFill>
              </a:rPr>
              <a:t>Macro-F1</a:t>
            </a:r>
          </a:p>
        </p:txBody>
      </p:sp>
      <p:sp>
        <p:nvSpPr>
          <p:cNvPr id="11" name="Macro-F1-track-221">
            <a:extLst>
              <a:ext uri="{FF2B5EF4-FFF2-40B4-BE49-F238E27FC236}">
                <a16:creationId xmlns:a16="http://schemas.microsoft.com/office/drawing/2014/main" id="{DC22F9E2-E553-4704-B9E6-EE0DBAD5B296}"/>
              </a:ext>
            </a:extLst>
          </p:cNvPr>
          <p:cNvSpPr>
            <a:spLocks noGrp="1"/>
          </p:cNvSpPr>
          <p:nvPr/>
        </p:nvSpPr>
        <p:spPr>
          <a:xfrm>
            <a:off x="2924043" y="1751617"/>
            <a:ext cx="4358134" cy="182434"/>
          </a:xfrm>
          <a:prstGeom prst="roundRect">
            <a:avLst>
              <a:gd name="adj" fmla="val 50000"/>
            </a:avLst>
          </a:prstGeom>
          <a:solidFill>
            <a:srgbClr val="E8EE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12" name="Macro-F1-bar-221">
            <a:extLst>
              <a:ext uri="{FF2B5EF4-FFF2-40B4-BE49-F238E27FC236}">
                <a16:creationId xmlns:a16="http://schemas.microsoft.com/office/drawing/2014/main" id="{46F33938-6EA5-45B1-A78B-F7AD00DD8B2F}"/>
              </a:ext>
            </a:extLst>
          </p:cNvPr>
          <p:cNvSpPr>
            <a:spLocks noGrp="1"/>
          </p:cNvSpPr>
          <p:nvPr/>
        </p:nvSpPr>
        <p:spPr>
          <a:xfrm>
            <a:off x="2924043" y="1751617"/>
            <a:ext cx="244056" cy="182434"/>
          </a:xfrm>
          <a:prstGeom prst="roundRect">
            <a:avLst>
              <a:gd name="adj" fmla="val 50000"/>
            </a:avLst>
          </a:prstGeom>
          <a:solidFill>
            <a:srgbClr val="2F6AEA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14" name="cnn-label">
            <a:extLst>
              <a:ext uri="{FF2B5EF4-FFF2-40B4-BE49-F238E27FC236}">
                <a16:creationId xmlns:a16="http://schemas.microsoft.com/office/drawing/2014/main" id="{9C4B14ED-D1E7-4056-8CEF-C61E6F897F7D}"/>
              </a:ext>
            </a:extLst>
          </p:cNvPr>
          <p:cNvSpPr>
            <a:spLocks noGrp="1"/>
          </p:cNvSpPr>
          <p:nvPr/>
        </p:nvSpPr>
        <p:spPr>
          <a:xfrm>
            <a:off x="291415" y="2342160"/>
            <a:ext cx="1677789" cy="31013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16223A"/>
                </a:solidFill>
              </a:defRPr>
            </a:pPr>
            <a:r>
              <a:rPr sz="1400" b="1" dirty="0">
                <a:solidFill>
                  <a:srgbClr val="16223A"/>
                </a:solidFill>
              </a:rPr>
              <a:t>CNN-local features</a:t>
            </a:r>
          </a:p>
        </p:txBody>
      </p:sp>
      <p:sp>
        <p:nvSpPr>
          <p:cNvPr id="16" name="Accuracy-track-294">
            <a:extLst>
              <a:ext uri="{FF2B5EF4-FFF2-40B4-BE49-F238E27FC236}">
                <a16:creationId xmlns:a16="http://schemas.microsoft.com/office/drawing/2014/main" id="{3630AADF-C27F-4DC5-9EF0-89F478E203A7}"/>
              </a:ext>
            </a:extLst>
          </p:cNvPr>
          <p:cNvSpPr>
            <a:spLocks noGrp="1"/>
          </p:cNvSpPr>
          <p:nvPr/>
        </p:nvSpPr>
        <p:spPr>
          <a:xfrm>
            <a:off x="2924043" y="2244863"/>
            <a:ext cx="4358134" cy="182434"/>
          </a:xfrm>
          <a:prstGeom prst="roundRect">
            <a:avLst>
              <a:gd name="adj" fmla="val 50000"/>
            </a:avLst>
          </a:prstGeom>
          <a:solidFill>
            <a:srgbClr val="E8EE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17" name="Accuracy-bar-294">
            <a:extLst>
              <a:ext uri="{FF2B5EF4-FFF2-40B4-BE49-F238E27FC236}">
                <a16:creationId xmlns:a16="http://schemas.microsoft.com/office/drawing/2014/main" id="{1612F785-0EE0-4B69-BBEF-F04B13371609}"/>
              </a:ext>
            </a:extLst>
          </p:cNvPr>
          <p:cNvSpPr>
            <a:spLocks noGrp="1"/>
          </p:cNvSpPr>
          <p:nvPr/>
        </p:nvSpPr>
        <p:spPr>
          <a:xfrm>
            <a:off x="2924043" y="2244863"/>
            <a:ext cx="871627" cy="182434"/>
          </a:xfrm>
          <a:prstGeom prst="roundRect">
            <a:avLst>
              <a:gd name="adj" fmla="val 50000"/>
            </a:avLst>
          </a:prstGeom>
          <a:solidFill>
            <a:srgbClr val="2076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20" name="Macro-F1-track-333">
            <a:extLst>
              <a:ext uri="{FF2B5EF4-FFF2-40B4-BE49-F238E27FC236}">
                <a16:creationId xmlns:a16="http://schemas.microsoft.com/office/drawing/2014/main" id="{8F53DAAE-E3A6-4C16-A02A-3F81A3FE36DD}"/>
              </a:ext>
            </a:extLst>
          </p:cNvPr>
          <p:cNvSpPr>
            <a:spLocks noGrp="1"/>
          </p:cNvSpPr>
          <p:nvPr/>
        </p:nvSpPr>
        <p:spPr>
          <a:xfrm>
            <a:off x="2924043" y="2508378"/>
            <a:ext cx="4358134" cy="182434"/>
          </a:xfrm>
          <a:prstGeom prst="roundRect">
            <a:avLst>
              <a:gd name="adj" fmla="val 50000"/>
            </a:avLst>
          </a:prstGeom>
          <a:solidFill>
            <a:srgbClr val="E8EEF3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21" name="Macro-F1-bar-333">
            <a:extLst>
              <a:ext uri="{FF2B5EF4-FFF2-40B4-BE49-F238E27FC236}">
                <a16:creationId xmlns:a16="http://schemas.microsoft.com/office/drawing/2014/main" id="{ADA118D0-DEDC-4E8F-8BEB-29DD3CA25F08}"/>
              </a:ext>
            </a:extLst>
          </p:cNvPr>
          <p:cNvSpPr>
            <a:spLocks noGrp="1"/>
          </p:cNvSpPr>
          <p:nvPr/>
        </p:nvSpPr>
        <p:spPr>
          <a:xfrm>
            <a:off x="2924043" y="2508378"/>
            <a:ext cx="422739" cy="182434"/>
          </a:xfrm>
          <a:prstGeom prst="roundRect">
            <a:avLst>
              <a:gd name="adj" fmla="val 50000"/>
            </a:avLst>
          </a:prstGeom>
          <a:solidFill>
            <a:srgbClr val="20766D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23" name="note-box">
            <a:extLst>
              <a:ext uri="{FF2B5EF4-FFF2-40B4-BE49-F238E27FC236}">
                <a16:creationId xmlns:a16="http://schemas.microsoft.com/office/drawing/2014/main" id="{FC20C87E-B422-40E3-8D40-64A10E9D3A07}"/>
              </a:ext>
            </a:extLst>
          </p:cNvPr>
          <p:cNvSpPr>
            <a:spLocks noGrp="1"/>
          </p:cNvSpPr>
          <p:nvPr/>
        </p:nvSpPr>
        <p:spPr>
          <a:xfrm>
            <a:off x="291415" y="3267454"/>
            <a:ext cx="7364909" cy="1002323"/>
          </a:xfrm>
          <a:prstGeom prst="roundRect">
            <a:avLst>
              <a:gd name="adj" fmla="val 12500"/>
            </a:avLst>
          </a:prstGeom>
          <a:gradFill>
            <a:gsLst>
              <a:gs pos="61000">
                <a:srgbClr val="EBE1EA"/>
              </a:gs>
              <a:gs pos="31000">
                <a:schemeClr val="bg2"/>
              </a:gs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4800000" scaled="0"/>
          </a:gradFill>
          <a:ln w="11430">
            <a:noFill/>
            <a:prstDash val="solid"/>
          </a:ln>
        </p:spPr>
        <p:txBody>
          <a:bodyPr/>
          <a:lstStyle/>
          <a:p>
            <a:endParaRPr lang="zh-CN" altLang="en-US" sz="1277"/>
          </a:p>
        </p:txBody>
      </p:sp>
      <p:sp>
        <p:nvSpPr>
          <p:cNvPr id="24" name="note-title">
            <a:extLst>
              <a:ext uri="{FF2B5EF4-FFF2-40B4-BE49-F238E27FC236}">
                <a16:creationId xmlns:a16="http://schemas.microsoft.com/office/drawing/2014/main" id="{016C92D5-4C19-4302-B803-084916692B64}"/>
              </a:ext>
            </a:extLst>
          </p:cNvPr>
          <p:cNvSpPr>
            <a:spLocks noGrp="1"/>
          </p:cNvSpPr>
          <p:nvPr/>
        </p:nvSpPr>
        <p:spPr>
          <a:xfrm>
            <a:off x="387688" y="3253679"/>
            <a:ext cx="1263848" cy="29755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800" b="1">
                <a:solidFill>
                  <a:srgbClr val="16223A"/>
                </a:solidFill>
              </a:defRPr>
            </a:pPr>
            <a:r>
              <a:rPr sz="1277" b="1">
                <a:solidFill>
                  <a:srgbClr val="16223A"/>
                </a:solidFill>
              </a:rPr>
              <a:t>读图说明</a:t>
            </a:r>
          </a:p>
        </p:txBody>
      </p:sp>
      <p:sp>
        <p:nvSpPr>
          <p:cNvPr id="25" name="note-body">
            <a:extLst>
              <a:ext uri="{FF2B5EF4-FFF2-40B4-BE49-F238E27FC236}">
                <a16:creationId xmlns:a16="http://schemas.microsoft.com/office/drawing/2014/main" id="{A711FA5E-8606-4CB1-A681-F05C78962AB1}"/>
              </a:ext>
            </a:extLst>
          </p:cNvPr>
          <p:cNvSpPr>
            <a:spLocks noGrp="1"/>
          </p:cNvSpPr>
          <p:nvPr/>
        </p:nvSpPr>
        <p:spPr>
          <a:xfrm>
            <a:off x="387476" y="3620979"/>
            <a:ext cx="6864906" cy="45398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350">
                <a:solidFill>
                  <a:srgbClr val="667386"/>
                </a:solidFill>
              </a:defRPr>
            </a:pPr>
            <a:r>
              <a:rPr sz="1050" b="1" dirty="0">
                <a:solidFill>
                  <a:srgbClr val="667386"/>
                </a:solidFill>
              </a:rPr>
              <a:t>Pilot </a:t>
            </a:r>
            <a:r>
              <a:rPr sz="1050" b="1" dirty="0" err="1">
                <a:solidFill>
                  <a:srgbClr val="667386"/>
                </a:solidFill>
              </a:rPr>
              <a:t>实验规模较小，数值主要用于验证代码和比较趋势</a:t>
            </a:r>
            <a:r>
              <a:rPr sz="1050" b="1" dirty="0">
                <a:solidFill>
                  <a:srgbClr val="667386"/>
                </a:solidFill>
              </a:rPr>
              <a:t>。</a:t>
            </a:r>
            <a:endParaRPr lang="en-US" sz="1050" b="1" dirty="0">
              <a:solidFill>
                <a:srgbClr val="667386"/>
              </a:solidFill>
            </a:endParaRPr>
          </a:p>
          <a:p>
            <a:pPr>
              <a:lnSpc>
                <a:spcPct val="150000"/>
              </a:lnSpc>
              <a:defRPr sz="1350">
                <a:solidFill>
                  <a:srgbClr val="667386"/>
                </a:solidFill>
              </a:defRPr>
            </a:pPr>
            <a:r>
              <a:rPr sz="1050" b="1" dirty="0" err="1">
                <a:solidFill>
                  <a:srgbClr val="667386"/>
                </a:solidFill>
              </a:rPr>
              <a:t>完整</a:t>
            </a:r>
            <a:r>
              <a:rPr sz="1050" b="1" dirty="0">
                <a:solidFill>
                  <a:srgbClr val="667386"/>
                </a:solidFill>
              </a:rPr>
              <a:t> Residual CNN </a:t>
            </a:r>
            <a:r>
              <a:rPr sz="1050" b="1" dirty="0" err="1">
                <a:solidFill>
                  <a:srgbClr val="667386"/>
                </a:solidFill>
              </a:rPr>
              <a:t>训练代码会在安装</a:t>
            </a:r>
            <a:r>
              <a:rPr sz="1050" b="1" dirty="0">
                <a:solidFill>
                  <a:srgbClr val="667386"/>
                </a:solidFill>
              </a:rPr>
              <a:t> </a:t>
            </a:r>
            <a:r>
              <a:rPr sz="1050" b="1" dirty="0" err="1">
                <a:solidFill>
                  <a:srgbClr val="667386"/>
                </a:solidFill>
              </a:rPr>
              <a:t>PyTorch</a:t>
            </a:r>
            <a:r>
              <a:rPr sz="1050" b="1" dirty="0">
                <a:solidFill>
                  <a:srgbClr val="667386"/>
                </a:solidFill>
              </a:rPr>
              <a:t> </a:t>
            </a:r>
            <a:r>
              <a:rPr sz="1050" b="1" dirty="0" err="1">
                <a:solidFill>
                  <a:srgbClr val="667386"/>
                </a:solidFill>
              </a:rPr>
              <a:t>后使用相同数据表运行，可扩大</a:t>
            </a:r>
            <a:r>
              <a:rPr sz="1050" b="1" dirty="0">
                <a:solidFill>
                  <a:srgbClr val="667386"/>
                </a:solidFill>
              </a:rPr>
              <a:t> </a:t>
            </a:r>
            <a:r>
              <a:rPr sz="1050" b="1" dirty="0" err="1">
                <a:solidFill>
                  <a:srgbClr val="667386"/>
                </a:solidFill>
              </a:rPr>
              <a:t>per_class</a:t>
            </a:r>
            <a:r>
              <a:rPr sz="1050" b="1" dirty="0">
                <a:solidFill>
                  <a:srgbClr val="667386"/>
                </a:solidFill>
              </a:rPr>
              <a:t> </a:t>
            </a:r>
            <a:r>
              <a:rPr sz="1050" b="1" dirty="0" err="1">
                <a:solidFill>
                  <a:srgbClr val="667386"/>
                </a:solidFill>
              </a:rPr>
              <a:t>参数得到更稳定结果</a:t>
            </a:r>
            <a:r>
              <a:rPr sz="1050" dirty="0">
                <a:solidFill>
                  <a:srgbClr val="667386"/>
                </a:solidFill>
              </a:rPr>
              <a:t>。</a:t>
            </a:r>
          </a:p>
        </p:txBody>
      </p:sp>
      <p:sp>
        <p:nvSpPr>
          <p:cNvPr id="28" name="title-underline-blue">
            <a:extLst>
              <a:ext uri="{FF2B5EF4-FFF2-40B4-BE49-F238E27FC236}">
                <a16:creationId xmlns:a16="http://schemas.microsoft.com/office/drawing/2014/main" id="{5AA97607-7EE4-1137-4E7B-2F69098C1719}"/>
              </a:ext>
            </a:extLst>
          </p:cNvPr>
          <p:cNvSpPr>
            <a:spLocks noGrp="1"/>
          </p:cNvSpPr>
          <p:nvPr/>
        </p:nvSpPr>
        <p:spPr>
          <a:xfrm>
            <a:off x="451386" y="873232"/>
            <a:ext cx="1152525" cy="38100"/>
          </a:xfrm>
          <a:prstGeom prst="rect">
            <a:avLst/>
          </a:prstGeom>
          <a:solidFill>
            <a:srgbClr val="2F66F2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itle-underline-yellow">
            <a:extLst>
              <a:ext uri="{FF2B5EF4-FFF2-40B4-BE49-F238E27FC236}">
                <a16:creationId xmlns:a16="http://schemas.microsoft.com/office/drawing/2014/main" id="{A841C7FD-C338-6075-C66E-D7D66CC7C9FA}"/>
              </a:ext>
            </a:extLst>
          </p:cNvPr>
          <p:cNvSpPr>
            <a:spLocks noGrp="1"/>
          </p:cNvSpPr>
          <p:nvPr/>
        </p:nvSpPr>
        <p:spPr>
          <a:xfrm>
            <a:off x="1127661" y="873232"/>
            <a:ext cx="523875" cy="38100"/>
          </a:xfrm>
          <a:prstGeom prst="rect">
            <a:avLst/>
          </a:prstGeom>
          <a:solidFill>
            <a:srgbClr val="E0A015"/>
          </a:solidFill>
          <a:ln w="0">
            <a:noFill/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breadcrumb">
            <a:extLst>
              <a:ext uri="{FF2B5EF4-FFF2-40B4-BE49-F238E27FC236}">
                <a16:creationId xmlns:a16="http://schemas.microsoft.com/office/drawing/2014/main" id="{195B9DAD-C422-2099-6E83-D0E19B761DC0}"/>
              </a:ext>
            </a:extLst>
          </p:cNvPr>
          <p:cNvSpPr>
            <a:spLocks noGrp="1"/>
          </p:cNvSpPr>
          <p:nvPr/>
        </p:nvSpPr>
        <p:spPr>
          <a:xfrm>
            <a:off x="7115364" y="530732"/>
            <a:ext cx="1000125" cy="21431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rmAutofit/>
          </a:bodyPr>
          <a:lstStyle/>
          <a:p>
            <a:pPr algn="r">
              <a:defRPr sz="458" b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 dirty="0">
                <a:solidFill>
                  <a:srgbClr val="6E7E91"/>
                </a:solidFill>
                <a:latin typeface="Microsoft YaHei"/>
                <a:ea typeface="Microsoft YaHei"/>
                <a:cs typeface="Microsoft YaHei"/>
              </a:rPr>
              <a:t>Open Images · Residual CNN</a:t>
            </a:r>
          </a:p>
        </p:txBody>
      </p:sp>
      <p:sp>
        <p:nvSpPr>
          <p:cNvPr id="31" name="Accuracy-label-183">
            <a:extLst>
              <a:ext uri="{FF2B5EF4-FFF2-40B4-BE49-F238E27FC236}">
                <a16:creationId xmlns:a16="http://schemas.microsoft.com/office/drawing/2014/main" id="{431D700D-707E-3845-5447-7AC90E1CB436}"/>
              </a:ext>
            </a:extLst>
          </p:cNvPr>
          <p:cNvSpPr>
            <a:spLocks noGrp="1"/>
          </p:cNvSpPr>
          <p:nvPr/>
        </p:nvSpPr>
        <p:spPr>
          <a:xfrm>
            <a:off x="1961878" y="2211150"/>
            <a:ext cx="855563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sz="1400" b="1" dirty="0">
                <a:solidFill>
                  <a:srgbClr val="002060"/>
                </a:solidFill>
              </a:rPr>
              <a:t>Accuracy</a:t>
            </a:r>
          </a:p>
        </p:txBody>
      </p:sp>
      <p:sp>
        <p:nvSpPr>
          <p:cNvPr id="32" name="Macro-F1-label-221">
            <a:extLst>
              <a:ext uri="{FF2B5EF4-FFF2-40B4-BE49-F238E27FC236}">
                <a16:creationId xmlns:a16="http://schemas.microsoft.com/office/drawing/2014/main" id="{68A3D07B-8FE8-679C-923B-D65687EC8DEF}"/>
              </a:ext>
            </a:extLst>
          </p:cNvPr>
          <p:cNvSpPr>
            <a:spLocks noGrp="1"/>
          </p:cNvSpPr>
          <p:nvPr/>
        </p:nvSpPr>
        <p:spPr>
          <a:xfrm>
            <a:off x="1818470" y="2467908"/>
            <a:ext cx="979386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sz="1400" b="1" dirty="0">
                <a:solidFill>
                  <a:srgbClr val="7030A0"/>
                </a:solidFill>
              </a:rPr>
              <a:t>Macro-F1</a:t>
            </a:r>
          </a:p>
        </p:txBody>
      </p:sp>
      <p:sp>
        <p:nvSpPr>
          <p:cNvPr id="33" name="Accuracy-label-183">
            <a:extLst>
              <a:ext uri="{FF2B5EF4-FFF2-40B4-BE49-F238E27FC236}">
                <a16:creationId xmlns:a16="http://schemas.microsoft.com/office/drawing/2014/main" id="{C4E60999-B277-0AA1-EEFE-2E18B00488A2}"/>
              </a:ext>
            </a:extLst>
          </p:cNvPr>
          <p:cNvSpPr>
            <a:spLocks noGrp="1"/>
          </p:cNvSpPr>
          <p:nvPr/>
        </p:nvSpPr>
        <p:spPr>
          <a:xfrm>
            <a:off x="7094542" y="1435736"/>
            <a:ext cx="855563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lang="en-US" sz="1400" b="1" dirty="0">
                <a:solidFill>
                  <a:srgbClr val="002060"/>
                </a:solidFill>
              </a:rPr>
              <a:t>10.0</a:t>
            </a:r>
            <a:r>
              <a:rPr lang="en-US" altLang="zh-CN" sz="1400" b="1" dirty="0">
                <a:solidFill>
                  <a:srgbClr val="002060"/>
                </a:solidFill>
              </a:rPr>
              <a:t>%</a:t>
            </a:r>
            <a:endParaRPr sz="1400" b="1" dirty="0">
              <a:solidFill>
                <a:srgbClr val="002060"/>
              </a:solidFill>
            </a:endParaRPr>
          </a:p>
        </p:txBody>
      </p:sp>
      <p:sp>
        <p:nvSpPr>
          <p:cNvPr id="34" name="Macro-F1-label-221">
            <a:extLst>
              <a:ext uri="{FF2B5EF4-FFF2-40B4-BE49-F238E27FC236}">
                <a16:creationId xmlns:a16="http://schemas.microsoft.com/office/drawing/2014/main" id="{209AB0B8-A0EE-389C-DCEA-25458DC42847}"/>
              </a:ext>
            </a:extLst>
          </p:cNvPr>
          <p:cNvSpPr>
            <a:spLocks noGrp="1"/>
          </p:cNvSpPr>
          <p:nvPr/>
        </p:nvSpPr>
        <p:spPr>
          <a:xfrm>
            <a:off x="6925717" y="1741481"/>
            <a:ext cx="979386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lang="en-US" sz="1400" b="1" dirty="0">
                <a:solidFill>
                  <a:srgbClr val="7030A0"/>
                </a:solidFill>
              </a:rPr>
              <a:t>5.6</a:t>
            </a:r>
            <a:r>
              <a:rPr lang="en-US" altLang="zh-CN" sz="1400" b="1" dirty="0">
                <a:solidFill>
                  <a:srgbClr val="7030A0"/>
                </a:solidFill>
              </a:rPr>
              <a:t>%</a:t>
            </a:r>
            <a:endParaRPr sz="1400" b="1" dirty="0">
              <a:solidFill>
                <a:srgbClr val="7030A0"/>
              </a:solidFill>
            </a:endParaRPr>
          </a:p>
        </p:txBody>
      </p:sp>
      <p:sp>
        <p:nvSpPr>
          <p:cNvPr id="37" name="Accuracy-label-183">
            <a:extLst>
              <a:ext uri="{FF2B5EF4-FFF2-40B4-BE49-F238E27FC236}">
                <a16:creationId xmlns:a16="http://schemas.microsoft.com/office/drawing/2014/main" id="{802C3E59-F0F6-B059-0303-BE0DFD61AD9F}"/>
              </a:ext>
            </a:extLst>
          </p:cNvPr>
          <p:cNvSpPr>
            <a:spLocks noGrp="1"/>
          </p:cNvSpPr>
          <p:nvPr/>
        </p:nvSpPr>
        <p:spPr>
          <a:xfrm>
            <a:off x="7207879" y="2146073"/>
            <a:ext cx="747395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lang="en-US" sz="1400" b="1" dirty="0">
                <a:solidFill>
                  <a:srgbClr val="002060"/>
                </a:solidFill>
              </a:rPr>
              <a:t>20.0</a:t>
            </a:r>
            <a:r>
              <a:rPr lang="en-US" altLang="zh-CN" sz="1400" b="1" dirty="0">
                <a:solidFill>
                  <a:srgbClr val="002060"/>
                </a:solidFill>
              </a:rPr>
              <a:t>%</a:t>
            </a:r>
            <a:endParaRPr sz="1400" b="1" dirty="0">
              <a:solidFill>
                <a:srgbClr val="002060"/>
              </a:solidFill>
            </a:endParaRPr>
          </a:p>
        </p:txBody>
      </p:sp>
      <p:sp>
        <p:nvSpPr>
          <p:cNvPr id="38" name="Macro-F1-label-221">
            <a:extLst>
              <a:ext uri="{FF2B5EF4-FFF2-40B4-BE49-F238E27FC236}">
                <a16:creationId xmlns:a16="http://schemas.microsoft.com/office/drawing/2014/main" id="{37194C17-7401-FED6-E7FE-98D17FBE4F06}"/>
              </a:ext>
            </a:extLst>
          </p:cNvPr>
          <p:cNvSpPr>
            <a:spLocks noGrp="1"/>
          </p:cNvSpPr>
          <p:nvPr/>
        </p:nvSpPr>
        <p:spPr>
          <a:xfrm>
            <a:off x="7054708" y="2451818"/>
            <a:ext cx="855563" cy="27365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1200">
                <a:solidFill>
                  <a:srgbClr val="5D6878"/>
                </a:solidFill>
              </a:defRPr>
            </a:pPr>
            <a:r>
              <a:rPr lang="en-US" altLang="zh-CN" sz="1400" b="1" dirty="0">
                <a:solidFill>
                  <a:srgbClr val="7030A0"/>
                </a:solidFill>
              </a:rPr>
              <a:t>9.7%</a:t>
            </a:r>
            <a:endParaRPr sz="1400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557413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1767</TotalTime>
  <Words>370</Words>
  <Application>Microsoft Office PowerPoint</Application>
  <DocSecurity>0</DocSecurity>
  <PresentationFormat>自定义</PresentationFormat>
  <Paragraphs>160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7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妍洁 王</cp:lastModifiedBy>
  <cp:revision>5</cp:revision>
  <dcterms:created xsi:type="dcterms:W3CDTF">2026-06-28T08:54:38Z</dcterms:created>
  <dcterms:modified xsi:type="dcterms:W3CDTF">2026-06-29T14:41:33Z</dcterms:modified>
</cp:coreProperties>
</file>